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a story about testing an appealing hypothesis carefully enough to trust the answer — including the parts of the answer that are 'no'. (0:15)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Safety monitoring wants per-concept detectors — lenses — over families of related behaviours. These concepts aren't independent: manipulation, deception, sycophancy form a graph. The hypothesis we inherited from a collaborating interpretability project: relationship-aware training improves detection, and if two concepts are connected by many independent paths, you can triangulate their boundary even without direct data. Intuitive, testable, and if true, very useful: graphs are cheap, data is not. (1:00)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Everything is the ARENA toolkit you know: mean-pooled residual stream, logistic regression. The one design choice to remember: out-of-distribution evaluation — train on three contexts, test on the fourth — because without it, surface vocabulary saturates everything and every probe looks perfect. (0:35)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Iteration 1 looked positive — and died under adversarial verification: a noise artifact, plus we'd operationalised 'knowing the relations' as extra POSITIVE passages. Iteration 2 fixed validity and power — 105 matched pairs, decision rule locked before the run — and the answer was a clean null: connectivity does not predict probe benefit. We pre-registered, so we report it as a result, not a failure. Hold that thought, because the null gets EXPLAINED in two slides. (1:00)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Our collaborator's diagnosis: the mechanism isn't extra positives, it's hard negatives — train Manipulation's probe with its actual siblings as the negative class. That works: +0.06 F1, and the declared graph beats shuffled placebo graphs at p=0.002 — the curated edges are real confusability structure, not just 'any graph'. Two honest bounds: about a third of the effect is shared vocabulary, and — right column — the effect lives entirely in DIRECT adjacency. Same numbers, two models, two codebases, fully independent runs. (1:15)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clean test of CONNECTIVITY — as opposed to adjacency — is the held-out-edge condition: train with all graph-aware negatives EXCEPT the sibling you're tested against. If alternate paths carry signal, they should partially reconstruct that withheld boundary. They don't: about +0.01.</a:t>
            </a:r>
          </a:p>
          <a:p/>
          <a:p>
            <a:r>
              <a:t>[NULL FILL: And the obvious rebuttal — 'you just need more data' — is what iteration 4 killed: we scaled to 10x under a locked pre-registration, and the line stays flat. Say aloud only the top-volume mean and CI; per-volume numbers and p-values live on the slide. Within-model, pre-registered, minimum detectable effect reported: the alternate-path prediction is refuted with shown — not asserted — power.]</a:t>
            </a:r>
          </a:p>
          <a:p/>
          <a:p>
            <a:r>
              <a:t>[CONFIRM FILL: And iteration 4 surprised us: at 10x volume the held-out-edge delta rises — numbers — connectivity was power-limited, and the next question is WHICH edges recovered signal.] (1:15)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model predicts everything you've seen: a probe's boundary is set by the negatives nearest each facet. Extra positives — nothing (iterations 1-2). Sibling negatives — the facet you're tested on (+0.06). Held-out-edge — the surviving constraints face the wrong way, and in our graph the alternate paths all pass through the ManipulativeCommunication hub, so they're correlated. Menger counted paths; what matters is INDEPENDENT constraints.</a:t>
            </a:r>
          </a:p>
          <a:p/>
          <a:p>
            <a:r>
              <a:t>[If iteration 4 CONFIRMS instead, close with: '—and iteration 4 showed this model undersold independence: some alternate paths do carry signal at volume. Finding which ones is the next sub-analysis.'] (0:35)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cashes out practically. A flat 15-probe argmax has no 'none of these' — it confidently labels a dog passage as manipulation; a cheap OTHER class fixes that completely. And negative selection is a budget allocation: graph siblings seal the neighbour face for free; the cheap 'other' tier seals far-OOD; but the graph gives ~zero protection against the model's ACTUAL off-graph confusers — only model-mining seals those, a 20-point FP cut. So: cheap tiers everywhere, audit for the gap, spend mining only on the gap. (1:00)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meta-result for this room: iteration 1's false positive would have been a fun talk and wrong. The discipline — pre-registration, adversarial verification, honest bounding — is what let two fully independent runs converge on numbers we trust. The relationships turned out to matter not as classifiers but as a map: where to look next. Thanks — questions. (0:45)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0"/>
            <a:ext cx="10698480" cy="1645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1A1A2E"/>
                </a:solidFill>
              </a:defRPr>
            </a:pPr>
            <a:r>
              <a:t>Knowing the Graph:</a:t>
            </a:r>
          </a:p>
          <a:p>
            <a:pPr>
              <a:defRPr sz="3200">
                <a:solidFill>
                  <a:srgbClr val="1A1A2E"/>
                </a:solidFill>
              </a:defRPr>
            </a:pPr>
            <a:r>
              <a:t>does relational structure improve safety-concept probes?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4023360"/>
            <a:ext cx="1069848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>
                <a:solidFill>
                  <a:srgbClr val="666666"/>
                </a:solidFill>
              </a:defRPr>
            </a:pPr>
            <a:r>
              <a:t>Jason Boudville</a:t>
            </a:r>
          </a:p>
          <a:p>
            <a:pPr>
              <a:defRPr sz="1800" i="1">
                <a:solidFill>
                  <a:srgbClr val="C44E52"/>
                </a:solidFill>
              </a:defRPr>
            </a:pPr>
            <a:r>
              <a:t>Four iterations, two models, independently replicated — and a bounded answer.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042416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A1A2E"/>
                </a:solidFill>
              </a:defRPr>
            </a:pPr>
            <a:r>
              <a:t>The question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005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666666"/>
                </a:solidFill>
              </a:defRPr>
            </a:pPr>
            <a:r>
              <a:t>1:00</a:t>
            </a:r>
          </a:p>
        </p:txBody>
      </p:sp>
      <p:pic>
        <p:nvPicPr>
          <p:cNvPr id="4" name="Picture 3" descr="slide2_grap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43000"/>
            <a:ext cx="7498079" cy="516534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138160" y="1645920"/>
            <a:ext cx="3749039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 b="1" i="0">
                <a:solidFill>
                  <a:srgbClr val="1A1A2E"/>
                </a:solidFill>
              </a:defRPr>
            </a:pPr>
            <a:r>
              <a:t>The hypothesis:</a:t>
            </a:r>
          </a:p>
          <a:p>
            <a:pPr>
              <a:spcAft>
                <a:spcPts val="1000"/>
              </a:spcAft>
              <a:defRPr sz="1600" b="0" i="0">
                <a:solidFill>
                  <a:srgbClr val="1A1A2E"/>
                </a:solidFill>
              </a:defRPr>
            </a:pPr>
            <a:r>
              <a:t>Probes for related concepts should help each other —</a:t>
            </a:r>
          </a:p>
          <a:p>
            <a:pPr>
              <a:spcAft>
                <a:spcPts val="1000"/>
              </a:spcAft>
              <a:defRPr sz="1600" b="0" i="0">
                <a:solidFill>
                  <a:srgbClr val="1A1A2E"/>
                </a:solidFill>
              </a:defRPr>
            </a:pPr>
            <a:r>
              <a:t>and the benefit should scale with connectivity (alternate paths).</a:t>
            </a:r>
          </a:p>
          <a:p>
            <a:pPr>
              <a:spcAft>
                <a:spcPts val="1000"/>
              </a:spcAft>
              <a:defRPr sz="1500" b="0" i="1">
                <a:solidFill>
                  <a:srgbClr val="666666"/>
                </a:solidFill>
              </a:defRPr>
            </a:pPr>
            <a:r>
              <a:t>Like inferring a border from the neighbours' borders.</a:t>
            </a:r>
          </a:p>
          <a:p>
            <a:pPr>
              <a:spcAft>
                <a:spcPts val="1000"/>
              </a:spcAft>
              <a:defRPr sz="1600" b="1" i="0">
                <a:solidFill>
                  <a:srgbClr val="C44E52"/>
                </a:solidFill>
              </a:defRPr>
            </a:pPr>
            <a:r>
              <a:t>Graphs are cheap. Data is not.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042416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A1A2E"/>
                </a:solidFill>
              </a:defRPr>
            </a:pPr>
            <a:r>
              <a:t>Setup in 30 seconds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005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666666"/>
                </a:solidFill>
              </a:defRPr>
            </a:pPr>
            <a:r>
              <a:t>0:35</a:t>
            </a:r>
          </a:p>
        </p:txBody>
      </p:sp>
      <p:pic>
        <p:nvPicPr>
          <p:cNvPr id="4" name="Picture 3" descr="fig1_condi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7223760" cy="363706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863840" y="1554480"/>
            <a:ext cx="40233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 i="0">
                <a:solidFill>
                  <a:srgbClr val="1A1A2E"/>
                </a:solidFill>
              </a:defRPr>
            </a:pPr>
            <a:r>
              <a:t>15 AI-safety concepts · 26-edge curated graph</a:t>
            </a:r>
          </a:p>
          <a:p>
            <a:pPr>
              <a:spcAft>
                <a:spcPts val="1000"/>
              </a:spcAft>
              <a:defRPr sz="1600" b="0" i="0">
                <a:solidFill>
                  <a:srgbClr val="1A1A2E"/>
                </a:solidFill>
              </a:defRPr>
            </a:pPr>
            <a:r>
              <a:t>Passages in 4 surface-distinct contexts</a:t>
            </a:r>
          </a:p>
          <a:p>
            <a:pPr>
              <a:spcAft>
                <a:spcPts val="1000"/>
              </a:spcAft>
              <a:defRPr sz="1600" b="1" i="0">
                <a:solidFill>
                  <a:srgbClr val="1A1A2E"/>
                </a:solidFill>
              </a:defRPr>
            </a:pPr>
            <a:r>
              <a:t>Train on 3 contexts, test on the held-out one (OOD)</a:t>
            </a:r>
          </a:p>
          <a:p>
            <a:pPr>
              <a:spcAft>
                <a:spcPts val="1000"/>
              </a:spcAft>
              <a:defRPr sz="1600" b="0" i="0">
                <a:solidFill>
                  <a:srgbClr val="1A1A2E"/>
                </a:solidFill>
              </a:defRPr>
            </a:pPr>
            <a:r>
              <a:t>Linear probes, layer-18 residual stream</a:t>
            </a:r>
          </a:p>
          <a:p>
            <a:pPr>
              <a:spcAft>
                <a:spcPts val="1000"/>
              </a:spcAft>
              <a:defRPr sz="1600" b="0" i="0">
                <a:solidFill>
                  <a:srgbClr val="1A1A2E"/>
                </a:solidFill>
              </a:defRPr>
            </a:pPr>
            <a:r>
              <a:t>Gemma-2-9B (+ independent E4B replication) · 30 seeds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042416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A1A2E"/>
                </a:solidFill>
              </a:defRPr>
            </a:pPr>
            <a:r>
              <a:t>Act 1 — the honest null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005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666666"/>
                </a:solidFill>
              </a:defRPr>
            </a:pPr>
            <a:r>
              <a:t>1:00</a:t>
            </a:r>
          </a:p>
        </p:txBody>
      </p:sp>
      <p:pic>
        <p:nvPicPr>
          <p:cNvPr id="4" name="Picture 3" descr="slide4_tim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463040"/>
            <a:ext cx="10881360" cy="411073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042416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A1A2E"/>
                </a:solidFill>
              </a:defRPr>
            </a:pPr>
            <a:r>
              <a:t>Act 2 — the reframe that worked: relations as hard negatives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005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666666"/>
                </a:solidFill>
              </a:defRPr>
            </a:pPr>
            <a:r>
              <a:t>1:15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463040"/>
          <a:ext cx="758952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2286000"/>
                <a:gridCol w="2011680"/>
              </a:tblGrid>
              <a:tr h="52578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ΔF1 vs random negatives</a:t>
                      </a:r>
                    </a:p>
                  </a:txBody>
                  <a:tcPr>
                    <a:solidFill>
                      <a:srgbClr val="4C72B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E4B (independent replication)</a:t>
                      </a:r>
                    </a:p>
                  </a:txBody>
                  <a:tcPr>
                    <a:solidFill>
                      <a:srgbClr val="4C72B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Gemma-2-9B (this work)</a:t>
                      </a:r>
                    </a:p>
                  </a:txBody>
                  <a:tcPr>
                    <a:solidFill>
                      <a:srgbClr val="4C72B0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>
                        <a:defRPr sz="1400" b="0"/>
                      </a:pPr>
                      <a:r>
                        <a:t>direct-neighbour negatives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/>
                      </a:pPr>
                      <a:r>
                        <a:t>+0.057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/>
                      </a:pPr>
                      <a:r>
                        <a:t>+0.059</a:t>
                      </a:r>
                    </a:p>
                  </a:txBody>
                  <a:tcPr/>
                </a:tc>
              </a:tr>
              <a:tr h="525780">
                <a:tc>
                  <a:txBody>
                    <a:bodyPr/>
                    <a:lstStyle/>
                    <a:p>
                      <a:pPr>
                        <a:defRPr sz="1400" b="0"/>
                      </a:pPr>
                      <a:r>
                        <a:t>graph-aware mixed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/>
                      </a:pPr>
                      <a:r>
                        <a:t>+0.043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/>
                      </a:pPr>
                      <a:r>
                        <a:t>+0.039</a:t>
                      </a:r>
                    </a:p>
                  </a:txBody>
                  <a:tcPr/>
                </a:tc>
              </a:tr>
              <a:tr h="525780">
                <a:tc>
                  <a:txBody>
                    <a:bodyPr/>
                    <a:lstStyle/>
                    <a:p>
                      <a:pPr>
                        <a:defRPr sz="1400" b="0"/>
                      </a:pPr>
                      <a:r>
                        <a:t>held-out-edge (connectivity)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/>
                      </a:pPr>
                      <a:r>
                        <a:t>+0.008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/>
                      </a:pPr>
                      <a:r>
                        <a:t>+0.012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8503920" y="1554480"/>
            <a:ext cx="32918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 i="0">
                <a:solidFill>
                  <a:srgbClr val="1A1A2E"/>
                </a:solidFill>
              </a:defRPr>
            </a:pPr>
            <a:r>
              <a:t>Path-2 controls (Gemma-2-9B):</a:t>
            </a:r>
          </a:p>
          <a:p>
            <a:pPr>
              <a:spcAft>
                <a:spcPts val="1000"/>
              </a:spcAft>
              <a:defRPr sz="1500" b="0" i="0">
                <a:solidFill>
                  <a:srgbClr val="1A1A2E"/>
                </a:solidFill>
              </a:defRPr>
            </a:pPr>
            <a:r>
              <a:t>declared graph beats shuffled placebo graphs, p = 0.002</a:t>
            </a:r>
          </a:p>
          <a:p>
            <a:pPr>
              <a:spcAft>
                <a:spcPts val="1000"/>
              </a:spcAft>
              <a:defRPr sz="1500" b="0" i="0">
                <a:solidFill>
                  <a:srgbClr val="1A1A2E"/>
                </a:solidFill>
              </a:defRPr>
            </a:pPr>
            <a:r>
              <a:t>~⅓ of the effect is shared vocabulary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931920"/>
            <a:ext cx="109728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 b="1" i="0">
                <a:solidFill>
                  <a:srgbClr val="1A1A2E"/>
                </a:solidFill>
              </a:defRPr>
            </a:pPr>
            <a:r>
              <a:t>The mechanism is contrast, not coverage: train each concept's probe with its actual siblings as the negative class.</a:t>
            </a:r>
          </a:p>
          <a:p>
            <a:pPr>
              <a:spcAft>
                <a:spcPts val="1000"/>
              </a:spcAft>
              <a:defRPr sz="1600" b="0" i="0">
                <a:solidFill>
                  <a:srgbClr val="1A1A2E"/>
                </a:solidFill>
              </a:defRPr>
            </a:pPr>
            <a:r>
              <a:t>Robust: two models, two codebases, fully independent runs — same numbers.</a:t>
            </a:r>
          </a:p>
          <a:p>
            <a:pPr>
              <a:spcAft>
                <a:spcPts val="1000"/>
              </a:spcAft>
              <a:defRPr sz="1600" b="0" i="0">
                <a:solidFill>
                  <a:srgbClr val="C44E52"/>
                </a:solidFill>
              </a:defRPr>
            </a:pPr>
            <a:r>
              <a:t>Honest bounds: ~⅓ lexical, and the effect lives entirely in DIRECT adjacency →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042416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A1A2E"/>
                </a:solidFill>
              </a:defRPr>
            </a:pPr>
            <a:r>
              <a:t>Act 3 — connectivity isolated: does it scale?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005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666666"/>
                </a:solidFill>
              </a:defRPr>
            </a:pPr>
            <a:r>
              <a:t>1:15</a:t>
            </a:r>
          </a:p>
        </p:txBody>
      </p:sp>
      <p:pic>
        <p:nvPicPr>
          <p:cNvPr id="4" name="Picture 3" descr="fig3_volume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554480"/>
            <a:ext cx="7498079" cy="459038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1188720"/>
            <a:ext cx="7498079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E67E22"/>
                </a:solidFill>
              </a:defRPr>
            </a:pPr>
            <a:r>
              <a:t>PLACEHOLDER — final figure (fig5, volumes to 70/context) lands after the iteration-4 sweep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0" y="1554480"/>
            <a:ext cx="3200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0" i="0">
                <a:solidFill>
                  <a:srgbClr val="1A1A2E"/>
                </a:solidFill>
              </a:defRPr>
            </a:pPr>
            <a:r>
              <a:t>held-out-edge = train with all graph-aware negatives EXCEPT the tested sibling</a:t>
            </a:r>
          </a:p>
          <a:p>
            <a:pPr>
              <a:spcAft>
                <a:spcPts val="1000"/>
              </a:spcAft>
              <a:defRPr sz="1500" b="0" i="0">
                <a:solidFill>
                  <a:srgbClr val="1A1A2E"/>
                </a:solidFill>
              </a:defRPr>
            </a:pPr>
            <a:r>
              <a:t>If alternate paths carry signal, they should reconstruct the withheld boundary</a:t>
            </a:r>
          </a:p>
          <a:p>
            <a:pPr>
              <a:spcAft>
                <a:spcPts val="1000"/>
              </a:spcAft>
              <a:defRPr sz="1800" b="1" i="0">
                <a:solidFill>
                  <a:srgbClr val="C44E52"/>
                </a:solidFill>
              </a:defRPr>
            </a:pPr>
            <a:r>
              <a:t>They don't: ≈ +0.01</a:t>
            </a:r>
          </a:p>
          <a:p>
            <a:pPr>
              <a:spcAft>
                <a:spcPts val="1000"/>
              </a:spcAft>
              <a:defRPr sz="1500" b="1" i="0">
                <a:solidFill>
                  <a:srgbClr val="E67E22"/>
                </a:solidFill>
              </a:defRPr>
            </a:pPr>
            <a:r>
              <a:t>[ITER-4 VERDICT HERE after the sweep]</a:t>
            </a:r>
          </a:p>
          <a:p>
            <a:pPr>
              <a:spcAft>
                <a:spcPts val="1000"/>
              </a:spcAft>
              <a:defRPr sz="1200" b="0" i="1">
                <a:solidFill>
                  <a:srgbClr val="666666"/>
                </a:solidFill>
              </a:defRPr>
            </a:pPr>
            <a:r>
              <a:t>E4B points = independent corroboration; headline trend is within-model (Gemma-2-9B)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042416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A1A2E"/>
                </a:solidFill>
              </a:defRPr>
            </a:pPr>
            <a:r>
              <a:t>Why — the boundary-coverage picture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005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666666"/>
                </a:solidFill>
              </a:defRPr>
            </a:pPr>
            <a:r>
              <a:t>0:35</a:t>
            </a:r>
          </a:p>
        </p:txBody>
      </p:sp>
      <p:pic>
        <p:nvPicPr>
          <p:cNvPr id="4" name="Picture 3" descr="slide7_carto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3040" y="1280160"/>
            <a:ext cx="9144000" cy="5080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042416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A1A2E"/>
                </a:solidFill>
              </a:defRPr>
            </a:pPr>
            <a:r>
              <a:t>So what — you seal exactly the faces you train against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005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666666"/>
                </a:solidFill>
              </a:defRPr>
            </a:pPr>
            <a:r>
              <a:t>1:00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371600"/>
          <a:ext cx="8778240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1828800"/>
                <a:gridCol w="2194560"/>
                <a:gridCol w="1463040"/>
              </a:tblGrid>
              <a:tr h="530352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Negative set (FPR @ 95% TPR)</a:t>
                      </a:r>
                    </a:p>
                  </a:txBody>
                  <a:tcPr>
                    <a:solidFill>
                      <a:srgbClr val="4C72B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neighbours</a:t>
                      </a:r>
                    </a:p>
                  </a:txBody>
                  <a:tcPr>
                    <a:solidFill>
                      <a:srgbClr val="4C72B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off-graph confusers</a:t>
                      </a:r>
                    </a:p>
                  </a:txBody>
                  <a:tcPr>
                    <a:solidFill>
                      <a:srgbClr val="4C72B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far-OOD</a:t>
                      </a:r>
                    </a:p>
                  </a:txBody>
                  <a:tcPr>
                    <a:solidFill>
                      <a:srgbClr val="4C72B0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>
                        <a:defRPr sz="1400" b="0"/>
                      </a:pPr>
                      <a:r>
                        <a:t>random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/>
                      </a:pPr>
                      <a:r>
                        <a:t>0.19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/>
                      </a:pPr>
                      <a:r>
                        <a:t>0.27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/>
                      </a:pPr>
                      <a:r>
                        <a:t>0.18</a:t>
                      </a:r>
                    </a:p>
                  </a:txBody>
                  <a:tcPr/>
                </a:tc>
              </a:tr>
              <a:tr h="530352">
                <a:tc>
                  <a:txBody>
                    <a:bodyPr/>
                    <a:lstStyle/>
                    <a:p>
                      <a:pPr>
                        <a:defRPr sz="1400" b="0"/>
                      </a:pPr>
                      <a:r>
                        <a:t>graph siblings (cheap)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/>
                      </a:pPr>
                      <a:r>
                        <a:t>0.05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/>
                      </a:pPr>
                      <a:r>
                        <a:t>0.26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/>
                      </a:pPr>
                      <a:r>
                        <a:t>0.19</a:t>
                      </a:r>
                    </a:p>
                  </a:txBody>
                  <a:tcPr/>
                </a:tc>
              </a:tr>
              <a:tr h="530352">
                <a:tc>
                  <a:txBody>
                    <a:bodyPr/>
                    <a:lstStyle/>
                    <a:p>
                      <a:pPr>
                        <a:defRPr sz="1400" b="0"/>
                      </a:pPr>
                      <a:r>
                        <a:t>model-mined (expensive)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/>
                      </a:pPr>
                      <a:r>
                        <a:t>0.16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/>
                      </a:pPr>
                      <a:r>
                        <a:t>0.06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/>
                      </a:pPr>
                      <a:r>
                        <a:t>0.24</a:t>
                      </a:r>
                    </a:p>
                  </a:txBody>
                  <a:tcPr/>
                </a:tc>
              </a:tr>
              <a:tr h="530352">
                <a:tc>
                  <a:txBody>
                    <a:bodyPr/>
                    <a:lstStyle/>
                    <a:p>
                      <a:pPr>
                        <a:defRPr sz="1400" b="0"/>
                      </a:pPr>
                      <a:r>
                        <a:t>mined + cheap “other” tier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/>
                      </a:pPr>
                      <a:r>
                        <a:t>0.15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/>
                      </a:pPr>
                      <a:r>
                        <a:t>0.07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/>
                      </a:pPr>
                      <a:r>
                        <a:t>0.00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297680"/>
            <a:ext cx="109728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300" b="0" i="1">
                <a:solidFill>
                  <a:srgbClr val="666666"/>
                </a:solidFill>
              </a:defRPr>
            </a:pPr>
            <a:r>
              <a:t>FPR@95%TPR = false-positive rate at an operating point keeping 95% of true positives</a:t>
            </a:r>
          </a:p>
          <a:p>
            <a:pPr>
              <a:spcAft>
                <a:spcPts val="1000"/>
              </a:spcAft>
              <a:defRPr sz="1600" b="0" i="0">
                <a:solidFill>
                  <a:srgbClr val="1A1A2E"/>
                </a:solidFill>
              </a:defRPr>
            </a:pPr>
            <a:r>
              <a:t>A flat 15-probe argmax has no “none of these” — it labels a dog passage as manipulation. A cheap OTHER class fixes that completely.</a:t>
            </a:r>
          </a:p>
          <a:p>
            <a:pPr>
              <a:spcAft>
                <a:spcPts val="1000"/>
              </a:spcAft>
              <a:defRPr sz="1600" b="1" i="0">
                <a:solidFill>
                  <a:srgbClr val="1A1A2E"/>
                </a:solidFill>
              </a:defRPr>
            </a:pPr>
            <a:r>
              <a:t>Recipe: cheap tiers everywhere → audit for the gap → spend mining only on the gap (a 20-point FP cut).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042416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A1A2E"/>
                </a:solidFill>
              </a:defRPr>
            </a:pPr>
            <a:r>
              <a:t>What this taught 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005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666666"/>
                </a:solidFill>
              </a:defRPr>
            </a:pPr>
            <a:r>
              <a:t>0:45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 b="1" i="0">
                <a:solidFill>
                  <a:srgbClr val="1A1A2E"/>
                </a:solidFill>
              </a:defRPr>
            </a:pPr>
            <a:r>
              <a:t>Pre-register before powered runs — saved us twice</a:t>
            </a:r>
          </a:p>
          <a:p>
            <a:pPr>
              <a:spcAft>
                <a:spcPts val="1000"/>
              </a:spcAft>
              <a:defRPr sz="2200" b="1" i="0">
                <a:solidFill>
                  <a:srgbClr val="1A1A2E"/>
                </a:solidFill>
              </a:defRPr>
            </a:pPr>
            <a:r>
              <a:t>Adversarially verify your positives — killed a false one</a:t>
            </a:r>
          </a:p>
          <a:p>
            <a:pPr>
              <a:spcAft>
                <a:spcPts val="1000"/>
              </a:spcAft>
              <a:defRPr sz="2200" b="1" i="0">
                <a:solidFill>
                  <a:srgbClr val="1A1A2E"/>
                </a:solidFill>
              </a:defRPr>
            </a:pPr>
            <a:r>
              <a:t>A bounded answer + a mechanism beats an unbounded yes</a:t>
            </a:r>
          </a:p>
          <a:p>
            <a:pPr>
              <a:spcAft>
                <a:spcPts val="1000"/>
              </a:spcAft>
              <a:defRPr sz="1000" b="0" i="0">
                <a:solidFill>
                  <a:srgbClr val="1A1A2E"/>
                </a:solidFill>
              </a:defRPr>
            </a:pPr>
          </a:p>
          <a:p>
            <a:pPr>
              <a:spcAft>
                <a:spcPts val="1000"/>
              </a:spcAft>
              <a:defRPr sz="1700" b="0" i="0">
                <a:solidFill>
                  <a:srgbClr val="666666"/>
                </a:solidFill>
              </a:defRPr>
            </a:pPr>
            <a:r>
              <a:t>Next:</a:t>
            </a:r>
          </a:p>
          <a:p>
            <a:pPr>
              <a:spcAft>
                <a:spcPts val="1000"/>
              </a:spcAft>
              <a:defRPr sz="1500" b="0" i="0">
                <a:solidFill>
                  <a:srgbClr val="666666"/>
                </a:solidFill>
              </a:defRPr>
            </a:pPr>
            <a:r>
              <a:t>contrast-prompted generation test · near-out-of-set rejection test (controls generated + audited) · count independent constraints, not edges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