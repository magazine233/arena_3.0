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story about testing an appealing hypothesis carefully enough to trust the answer — including the parts of the answer that are 'no'. (0:15)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monitoring wants per-concept detectors — lenses — over families of related behaviours. These concepts aren't independent: manipulation, deception, sycophancy form a graph. The hypothesis we inherited — later peer-replicated on a second model: relationship-aware training improves detection, and if two concepts are connected by many independent paths, you can triangulate their boundary even without direct data. Intuitive, testable, and if true, very useful: graphs are cheap, data is not.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the ARENA toolkit you know: mean-pooled residual stream, logistic regression. The one design choice to remember: out-of-distribution evaluation — train on three contexts, test on the fourth — because without it, surface vocabulary saturates everything and every probe looks perfect. (0:35)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Iteration 1 looked positive — and died under adversarial verification: a noise artifact, plus we'd operationalised 'knowing the relations' as extra POSITIVE passages. Iteration 2 fixed validity and power — 105 matched pairs, decision rule locked before the run — and the answer was a clean null: connectivity does not predict probe benefit. We pre-registered, so we report it as a result, not a failure. Hold that thought, because the null gets EXPLAINED in two slides.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peer replication's diagnosis: the mechanism isn't extra positives, it's hard negatives — train Manipulation's probe with its actual siblings as the negative class. That works: +0.06 F1, and the declared graph beats shuffled placebo graphs at p=0.002 — the curated edges are real confusability structure, not just 'any graph'. Two honest bounds: about a third of the effect is shared vocabulary, and — right column — the effect lives entirely in DIRECT adjacency. Same numbers, two models, two codebases, fully independent runs. (1:15)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clean test of CONNECTIVITY — as opposed to adjacency — is the held-out-edge condition: train with all graph-aware negatives EXCEPT the sibling you're tested against. If alternate paths carry signal, they should partially reconstruct that withheld boundary. They don't: about +0.01.</a:t>
            </a:r>
          </a:p>
          <a:p/>
          <a:p>
            <a:r>
              <a:t>[NULL FILL: And the obvious rebuttal — 'you just need more data' — is what iteration 4 killed: we scaled to 10x under a locked pre-registration, and the line stays flat. Say aloud only the top-volume mean and CI; per-volume numbers and p-values live on the slide. Within-model, pre-registered, minimum detectable effect reported: the alternate-path prediction is refuted with shown — not asserted — power.]</a:t>
            </a:r>
          </a:p>
          <a:p/>
          <a:p>
            <a:r>
              <a:t>[CONFIRM FILL: And iteration 4 surprised us: at 10x volume the held-out-edge delta rises — numbers — connectivity was power-limited, and the next question is WHICH edges recovered signal.] (1:15)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model predicts everything you've seen: a probe's boundary is set by the negatives nearest each facet. Extra positives — nothing (iterations 1-2). Sibling negatives — the facet you're tested on (+0.06). Held-out-edge — the surviving constraints face the wrong way, and in our graph the alternate paths all pass through the ManipulativeCommunication hub, so they're correlated. Menger counted paths; what matters is INDEPENDENT constraints.</a:t>
            </a:r>
          </a:p>
          <a:p/>
          <a:p>
            <a:r>
              <a:t>[If iteration 4 CONFIRMS instead, close with: '—and iteration 4 showed this model undersold independence: some alternate paths do carry signal at volume. Finding which ones is the next sub-analysis.'] (0:35)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cashes out practically. A flat 15-probe argmax has no 'none of these' — it confidently labels a dog passage as manipulation; a cheap OTHER class fixes that completely. And negative selection is a budget allocation: graph siblings seal the neighbour face for free; the cheap 'other' tier seals far-OOD; but the graph gives ~zero protection against the model's ACTUAL off-graph confusers — only model-mining seals those, a 20-point FP cut. So: cheap tiers everywhere, audit for the gap, spend mining only on the gap.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meta-result for this room: iteration 1's false positive would have been a fun talk and wrong. The discipline — pre-registration, adversarial verification, honest bounding — is what let two fully independent runs converge on numbers we trust. The relationships turned out to matter not as classifiers but as a map: where to look next. Thanks — questions. (0:45)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2E"/>
                </a:solidFill>
              </a:defRPr>
            </a:pPr>
            <a:r>
              <a:t>Knowing the Graph:</a:t>
            </a:r>
          </a:p>
          <a:p>
            <a:pPr>
              <a:defRPr sz="3200">
                <a:solidFill>
                  <a:srgbClr val="1A1A2E"/>
                </a:solidFill>
              </a:defRPr>
            </a:pPr>
            <a:r>
              <a:t>does relational structure improve safety-concept probes?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66666"/>
                </a:solidFill>
              </a:defRPr>
            </a:pPr>
            <a:r>
              <a:t>Jason Boudville</a:t>
            </a:r>
          </a:p>
          <a:p>
            <a:pPr>
              <a:defRPr sz="1800" i="1">
                <a:solidFill>
                  <a:srgbClr val="C44E52"/>
                </a:solidFill>
              </a:defRPr>
            </a:pPr>
            <a:r>
              <a:t>Four iterations, two models, independently replicated — and a bounded answer.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1:00</a:t>
            </a:r>
          </a:p>
        </p:txBody>
      </p:sp>
      <p:pic>
        <p:nvPicPr>
          <p:cNvPr id="4" name="Picture 3" descr="slide2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7498079" cy="51653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64592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 i="0">
                <a:solidFill>
                  <a:srgbClr val="1A1A2E"/>
                </a:solidFill>
              </a:defRPr>
            </a:pPr>
            <a:r>
              <a:t>The hypothesis:</a:t>
            </a:r>
          </a:p>
          <a:p>
            <a:pPr>
              <a:spcAft>
                <a:spcPts val="1000"/>
              </a:spcAft>
              <a:defRPr sz="1600" b="0" i="0">
                <a:solidFill>
                  <a:srgbClr val="1A1A2E"/>
                </a:solidFill>
              </a:defRPr>
            </a:pPr>
            <a:r>
              <a:t>Probes for related concepts should help each other —</a:t>
            </a:r>
          </a:p>
          <a:p>
            <a:pPr>
              <a:spcAft>
                <a:spcPts val="1000"/>
              </a:spcAft>
              <a:defRPr sz="1600" b="0" i="0">
                <a:solidFill>
                  <a:srgbClr val="1A1A2E"/>
                </a:solidFill>
              </a:defRPr>
            </a:pPr>
            <a:r>
              <a:t>and the benefit should scale with connectivity (alternate paths).</a:t>
            </a:r>
          </a:p>
          <a:p>
            <a:pPr>
              <a:spcAft>
                <a:spcPts val="1000"/>
              </a:spcAft>
              <a:defRPr sz="1500" b="0" i="1">
                <a:solidFill>
                  <a:srgbClr val="666666"/>
                </a:solidFill>
              </a:defRPr>
            </a:pPr>
            <a:r>
              <a:t>Like inferring a border from the neighbours' borders.</a:t>
            </a:r>
          </a:p>
          <a:p>
            <a:pPr>
              <a:spcAft>
                <a:spcPts val="1000"/>
              </a:spcAft>
              <a:defRPr sz="1600" b="1" i="0">
                <a:solidFill>
                  <a:srgbClr val="C44E52"/>
                </a:solidFill>
              </a:defRPr>
            </a:pPr>
            <a:r>
              <a:t>Graphs are cheap. Data is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Setup in 30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0:35</a:t>
            </a:r>
          </a:p>
        </p:txBody>
      </p:sp>
      <p:pic>
        <p:nvPicPr>
          <p:cNvPr id="4" name="Picture 3" descr="fig1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223760" cy="36370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 i="0">
                <a:solidFill>
                  <a:srgbClr val="1A1A2E"/>
                </a:solidFill>
              </a:defRPr>
            </a:pPr>
            <a:r>
              <a:t>15 AI-safety concepts · 26-edge curated graph</a:t>
            </a:r>
          </a:p>
          <a:p>
            <a:pPr>
              <a:spcAft>
                <a:spcPts val="1000"/>
              </a:spcAft>
              <a:defRPr sz="1600" b="0" i="0">
                <a:solidFill>
                  <a:srgbClr val="1A1A2E"/>
                </a:solidFill>
              </a:defRPr>
            </a:pPr>
            <a:r>
              <a:t>Passages in 4 surface-distinct contexts</a:t>
            </a:r>
          </a:p>
          <a:p>
            <a:pPr>
              <a:spcAft>
                <a:spcPts val="1000"/>
              </a:spcAft>
              <a:defRPr sz="1600" b="1" i="0">
                <a:solidFill>
                  <a:srgbClr val="1A1A2E"/>
                </a:solidFill>
              </a:defRPr>
            </a:pPr>
            <a:r>
              <a:t>Train on 3 contexts, test on the held-out one (OOD)</a:t>
            </a:r>
          </a:p>
          <a:p>
            <a:pPr>
              <a:spcAft>
                <a:spcPts val="1000"/>
              </a:spcAft>
              <a:defRPr sz="1600" b="0" i="0">
                <a:solidFill>
                  <a:srgbClr val="1A1A2E"/>
                </a:solidFill>
              </a:defRPr>
            </a:pPr>
            <a:r>
              <a:t>Linear probes, layer-18 residual stream</a:t>
            </a:r>
          </a:p>
          <a:p>
            <a:pPr>
              <a:spcAft>
                <a:spcPts val="1000"/>
              </a:spcAft>
              <a:defRPr sz="1600" b="0" i="0">
                <a:solidFill>
                  <a:srgbClr val="1A1A2E"/>
                </a:solidFill>
              </a:defRPr>
            </a:pPr>
            <a:r>
              <a:t>Gemma-2-9B (+ independent E4B replication) · 30 seeds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Act 1 — the honest null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1:00</a:t>
            </a:r>
          </a:p>
        </p:txBody>
      </p:sp>
      <p:pic>
        <p:nvPicPr>
          <p:cNvPr id="4" name="Picture 3" descr="slide4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881360" cy="4110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Act 2 — the reframe that worked: relations as hard negatives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1:15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7589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286000"/>
                <a:gridCol w="2011680"/>
              </a:tblGrid>
              <a:tr h="5257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ΔF1 vs random negatives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E4B (peer replication)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Gemma-2-9B (this work)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direct-neighbour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+0.059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graph-aware 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+0.039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held-out-edge (connectivity)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+0.012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5544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 i="0">
                <a:solidFill>
                  <a:srgbClr val="1A1A2E"/>
                </a:solidFill>
              </a:defRPr>
            </a:pPr>
            <a:r>
              <a:t>Path-2 controls (Gemma-2-9B):</a:t>
            </a:r>
          </a:p>
          <a:p>
            <a:pPr>
              <a:spcAft>
                <a:spcPts val="1000"/>
              </a:spcAft>
              <a:defRPr sz="1500" b="0" i="0">
                <a:solidFill>
                  <a:srgbClr val="1A1A2E"/>
                </a:solidFill>
              </a:defRPr>
            </a:pPr>
            <a:r>
              <a:t>declared graph beats shuffled placebo graphs, p = 0.002</a:t>
            </a:r>
          </a:p>
          <a:p>
            <a:pPr>
              <a:spcAft>
                <a:spcPts val="1000"/>
              </a:spcAft>
              <a:defRPr sz="1500" b="0" i="0">
                <a:solidFill>
                  <a:srgbClr val="1A1A2E"/>
                </a:solidFill>
              </a:defRPr>
            </a:pPr>
            <a:r>
              <a:t>~⅓ of the effect is shared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 i="0">
                <a:solidFill>
                  <a:srgbClr val="1A1A2E"/>
                </a:solidFill>
              </a:defRPr>
            </a:pPr>
            <a:r>
              <a:t>The mechanism is contrast, not coverage: train each concept's probe with its actual siblings as the negative class.</a:t>
            </a:r>
          </a:p>
          <a:p>
            <a:pPr>
              <a:spcAft>
                <a:spcPts val="1000"/>
              </a:spcAft>
              <a:defRPr sz="1600" b="0" i="0">
                <a:solidFill>
                  <a:srgbClr val="1A1A2E"/>
                </a:solidFill>
              </a:defRPr>
            </a:pPr>
            <a:r>
              <a:t>Robust: two models, two codebases, fully independent runs — same numbers.</a:t>
            </a:r>
          </a:p>
          <a:p>
            <a:pPr>
              <a:spcAft>
                <a:spcPts val="1000"/>
              </a:spcAft>
              <a:defRPr sz="1600" b="0" i="0">
                <a:solidFill>
                  <a:srgbClr val="C44E52"/>
                </a:solidFill>
              </a:defRPr>
            </a:pPr>
            <a:r>
              <a:t>Honest bounds: ~⅓ lexical, and the effect lives entirely in DIRECT adjacency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Act 3 — connectivity isolated: does it scale?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1:15</a:t>
            </a:r>
          </a:p>
        </p:txBody>
      </p:sp>
      <p:pic>
        <p:nvPicPr>
          <p:cNvPr id="4" name="Picture 3" descr="fig3_volum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498079" cy="45903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18872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22"/>
                </a:solidFill>
              </a:defRPr>
            </a:pPr>
            <a:r>
              <a:t>PLACEHOLDER — final figure (fig5, volumes to 70/context) lands after the iteration-4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5544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 i="0">
                <a:solidFill>
                  <a:srgbClr val="1A1A2E"/>
                </a:solidFill>
              </a:defRPr>
            </a:pPr>
            <a:r>
              <a:t>held-out-edge = train with all graph-aware negatives EXCEPT the tested sibling</a:t>
            </a:r>
          </a:p>
          <a:p>
            <a:pPr>
              <a:spcAft>
                <a:spcPts val="1000"/>
              </a:spcAft>
              <a:defRPr sz="1500" b="0" i="0">
                <a:solidFill>
                  <a:srgbClr val="1A1A2E"/>
                </a:solidFill>
              </a:defRPr>
            </a:pPr>
            <a:r>
              <a:t>If alternate paths carry signal, they should reconstruct the withheld boundary</a:t>
            </a:r>
          </a:p>
          <a:p>
            <a:pPr>
              <a:spcAft>
                <a:spcPts val="1000"/>
              </a:spcAft>
              <a:defRPr sz="1800" b="1" i="0">
                <a:solidFill>
                  <a:srgbClr val="C44E52"/>
                </a:solidFill>
              </a:defRPr>
            </a:pPr>
            <a:r>
              <a:t>They don't: ≈ +0.01</a:t>
            </a:r>
          </a:p>
          <a:p>
            <a:pPr>
              <a:spcAft>
                <a:spcPts val="1000"/>
              </a:spcAft>
              <a:defRPr sz="1500" b="1" i="0">
                <a:solidFill>
                  <a:srgbClr val="E67E22"/>
                </a:solidFill>
              </a:defRPr>
            </a:pPr>
            <a:r>
              <a:t>[ITER-4 VERDICT HERE after the sweep]</a:t>
            </a:r>
          </a:p>
          <a:p>
            <a:pPr>
              <a:spcAft>
                <a:spcPts val="1000"/>
              </a:spcAft>
              <a:defRPr sz="1200" b="0" i="1">
                <a:solidFill>
                  <a:srgbClr val="666666"/>
                </a:solidFill>
              </a:defRPr>
            </a:pPr>
            <a:r>
              <a:t>E4B points = independent corroboration; headline trend is within-model (Gemma-2-9B)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Why — the boundary-coverage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0:35</a:t>
            </a:r>
          </a:p>
        </p:txBody>
      </p:sp>
      <p:pic>
        <p:nvPicPr>
          <p:cNvPr id="4" name="Picture 3" descr="slide7_cart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So what — you seal exactly the faces you train against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1:00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8778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2194560"/>
                <a:gridCol w="1463040"/>
              </a:tblGrid>
              <a:tr h="53035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Negative set (FPR @ 95% TPR)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neighbours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off-graph confusers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far-OOD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0.18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graph siblings (cheap)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0.19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model-mined (expensive)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0.24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mined + cheap “other”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 i="1">
                <a:solidFill>
                  <a:srgbClr val="666666"/>
                </a:solidFill>
              </a:defRPr>
            </a:pPr>
            <a:r>
              <a:t>FPR@95%TPR = false-positive rate at an operating point keeping 95% of true positives</a:t>
            </a:r>
          </a:p>
          <a:p>
            <a:pPr>
              <a:spcAft>
                <a:spcPts val="1000"/>
              </a:spcAft>
              <a:defRPr sz="1600" b="0" i="0">
                <a:solidFill>
                  <a:srgbClr val="1A1A2E"/>
                </a:solidFill>
              </a:defRPr>
            </a:pPr>
            <a:r>
              <a:t>A flat 15-probe argmax has no “none of these” — it labels a dog passage as manipulation. A cheap OTHER class fixes that completely.</a:t>
            </a:r>
          </a:p>
          <a:p>
            <a:pPr>
              <a:spcAft>
                <a:spcPts val="1000"/>
              </a:spcAft>
              <a:defRPr sz="1600" b="1" i="0">
                <a:solidFill>
                  <a:srgbClr val="1A1A2E"/>
                </a:solidFill>
              </a:defRPr>
            </a:pPr>
            <a:r>
              <a:t>Recipe: cheap tiers everywhere → audit for the gap → spend mining only on the gap (a 20-point FP cut).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What this taught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0:45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 i="0">
                <a:solidFill>
                  <a:srgbClr val="1A1A2E"/>
                </a:solidFill>
              </a:defRPr>
            </a:pPr>
            <a:r>
              <a:t>Pre-register before powered runs — saved us twice</a:t>
            </a:r>
          </a:p>
          <a:p>
            <a:pPr>
              <a:spcAft>
                <a:spcPts val="1000"/>
              </a:spcAft>
              <a:defRPr sz="2200" b="1" i="0">
                <a:solidFill>
                  <a:srgbClr val="1A1A2E"/>
                </a:solidFill>
              </a:defRPr>
            </a:pPr>
            <a:r>
              <a:t>Adversarially verify your positives — killed a false one</a:t>
            </a:r>
          </a:p>
          <a:p>
            <a:pPr>
              <a:spcAft>
                <a:spcPts val="1000"/>
              </a:spcAft>
              <a:defRPr sz="2200" b="1" i="0">
                <a:solidFill>
                  <a:srgbClr val="1A1A2E"/>
                </a:solidFill>
              </a:defRPr>
            </a:pPr>
            <a:r>
              <a:t>A bounded answer + a mechanism beats an unbounded yes</a:t>
            </a:r>
          </a:p>
          <a:p>
            <a:pPr>
              <a:spcAft>
                <a:spcPts val="1000"/>
              </a:spcAft>
              <a:defRPr sz="1000" b="0" i="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 b="0" i="0">
                <a:solidFill>
                  <a:srgbClr val="666666"/>
                </a:solidFill>
              </a:defRPr>
            </a:pPr>
            <a:r>
              <a:t>Next:</a:t>
            </a:r>
          </a:p>
          <a:p>
            <a:pPr>
              <a:spcAft>
                <a:spcPts val="1000"/>
              </a:spcAft>
              <a:defRPr sz="1500" b="0" i="0">
                <a:solidFill>
                  <a:srgbClr val="666666"/>
                </a:solidFill>
              </a:defRPr>
            </a:pPr>
            <a:r>
              <a:t>contrast-prompted generation test · near-out-of-set rejection test (controls generated + audited) · count independent constraints, not edges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