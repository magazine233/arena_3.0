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7" r:id="rId3"/>
    <p:sldId id="268" r:id="rId4"/>
    <p:sldId id="277" r:id="rId5"/>
    <p:sldId id="269" r:id="rId6"/>
    <p:sldId id="278" r:id="rId7"/>
    <p:sldId id="270" r:id="rId8"/>
    <p:sldId id="271" r:id="rId9"/>
    <p:sldId id="272" r:id="rId10"/>
    <p:sldId id="273" r:id="rId11"/>
    <p:sldId id="274" r:id="rId12"/>
    <p:sldId id="275" r:id="rId13"/>
    <p:sldId id="27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107" autoAdjust="0"/>
  </p:normalViewPr>
  <p:slideViewPr>
    <p:cSldViewPr snapToGrid="0" snapToObjects="1">
      <p:cViewPr varScale="1">
        <p:scale>
          <a:sx n="70" d="100"/>
          <a:sy n="70" d="100"/>
        </p:scale>
        <p:origin x="1138"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6470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talk asks whether relational structure between concepts improves linear-probe detection of related AI-safety concepts. This was done across 4 iterations. Every powered run after the first was pre-registered, with independent peer replication on a second model — we reach a bounded result: relations help, but only as local hard-negative contrast; the graph's connectivity contributes no measurable benefit. (0:15)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9DEF-C239-3EC9-8D47-99C67B148F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0331C-CDFC-C384-7B7B-40ED3622AE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E38B09-FFEC-1199-B311-A9084B5CD292}"/>
              </a:ext>
            </a:extLst>
          </p:cNvPr>
          <p:cNvSpPr>
            <a:spLocks noGrp="1"/>
          </p:cNvSpPr>
          <p:nvPr>
            <p:ph type="body" sz="quarter" idx="3"/>
          </p:nvPr>
        </p:nvSpPr>
        <p:spPr/>
        <p:txBody>
          <a:bodyPr/>
          <a:lstStyle/>
          <a:p>
            <a:r>
              <a:rPr dirty="0"/>
              <a:t>Deployable safety monitoring requires a detector — a lens — for each </a:t>
            </a:r>
            <a:r>
              <a:rPr dirty="0" err="1"/>
              <a:t>behaviour</a:t>
            </a:r>
            <a:r>
              <a:rPr dirty="0"/>
              <a:t> of concern. </a:t>
            </a:r>
            <a:endParaRPr lang="en-AU" dirty="0"/>
          </a:p>
          <a:p>
            <a:endParaRPr lang="en-AU" dirty="0"/>
          </a:p>
          <a:p>
            <a:r>
              <a:rPr dirty="0"/>
              <a:t>These concepts are not independent: manipulation, deception, and sycophancy form a graph of overlapping, related categories. The hypothesis under test is that this relational structure can be exploited — that training each lens against its relatives, and exploiting connectivity between concepts, improves detection and reduces the data required. The appeal is straightforward: relational structure is inexpensive to specify, whereas labelled data is costly. (0:55)</a:t>
            </a:r>
          </a:p>
        </p:txBody>
      </p:sp>
      <p:sp>
        <p:nvSpPr>
          <p:cNvPr id="4" name="Slide Number Placeholder 3">
            <a:extLst>
              <a:ext uri="{FF2B5EF4-FFF2-40B4-BE49-F238E27FC236}">
                <a16:creationId xmlns:a16="http://schemas.microsoft.com/office/drawing/2014/main" id="{199E477C-1170-3441-E373-FB9F69471548}"/>
              </a:ext>
            </a:extLst>
          </p:cNvPr>
          <p:cNvSpPr>
            <a:spLocks noGrp="1"/>
          </p:cNvSpPr>
          <p:nvPr>
            <p:ph type="sldNum" sz="quarter" idx="5"/>
          </p:nvPr>
        </p:nvSpPr>
        <p:spPr/>
      </p:sp>
    </p:spTree>
    <p:extLst>
      <p:ext uri="{BB962C8B-B14F-4D97-AF65-F5344CB8AC3E}">
        <p14:creationId xmlns:p14="http://schemas.microsoft.com/office/powerpoint/2010/main" val="15028730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60B01-75B4-FA35-41AE-783264213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D69B-994C-F666-EABE-E9F1C7E3372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2773CD7-554E-EEEC-BE62-0A6EC0824B0C}"/>
              </a:ext>
            </a:extLst>
          </p:cNvPr>
          <p:cNvSpPr>
            <a:spLocks noGrp="1"/>
          </p:cNvSpPr>
          <p:nvPr>
            <p:ph type="body" sz="quarter" idx="3"/>
          </p:nvPr>
        </p:nvSpPr>
        <p:spPr/>
        <p:txBody>
          <a:bodyPr/>
          <a:lstStyle/>
          <a:p>
            <a:r>
              <a:rPr lang="en-US" dirty="0"/>
              <a:t>The hypothesis originates in </a:t>
            </a:r>
            <a:r>
              <a:rPr lang="en-US" dirty="0" err="1"/>
              <a:t>HatCat</a:t>
            </a:r>
            <a:r>
              <a:rPr lang="en-US" dirty="0"/>
              <a:t>, an interpretability </a:t>
            </a:r>
            <a:r>
              <a:rPr lang="en-US" dirty="0" err="1"/>
              <a:t>programe</a:t>
            </a:r>
            <a:r>
              <a:rPr lang="en-US" dirty="0"/>
              <a:t> whose objective is a navigable, interpretable map of the concepts a model represents — not a single probe, but an atlas of per-concept lenses connected by a relational graph. </a:t>
            </a:r>
            <a:r>
              <a:rPr lang="en-US" dirty="0" err="1"/>
              <a:t>HatCat's</a:t>
            </a:r>
            <a:r>
              <a:rPr lang="en-US" dirty="0"/>
              <a:t> central premise is that relational knowledge improves both discrimination, through training against </a:t>
            </a:r>
            <a:r>
              <a:rPr lang="en-US" dirty="0" err="1"/>
              <a:t>neighbouring</a:t>
            </a:r>
            <a:r>
              <a:rPr lang="en-US" dirty="0"/>
              <a:t> concepts, and coverage efficiency, since the graph indicates where to probe and connectivity provides access to concepts that lack direct data. This capstone evaluates the sharpest, most falsifiable form of that premise: does relational structure measurably improve a linear probe, and does the benefit scale with graph connectivity? (1:15)</a:t>
            </a:r>
          </a:p>
        </p:txBody>
      </p:sp>
      <p:sp>
        <p:nvSpPr>
          <p:cNvPr id="4" name="Slide Number Placeholder 3">
            <a:extLst>
              <a:ext uri="{FF2B5EF4-FFF2-40B4-BE49-F238E27FC236}">
                <a16:creationId xmlns:a16="http://schemas.microsoft.com/office/drawing/2014/main" id="{590BC6C8-2CD9-B862-ECFF-0631565EBD36}"/>
              </a:ext>
            </a:extLst>
          </p:cNvPr>
          <p:cNvSpPr>
            <a:spLocks noGrp="1"/>
          </p:cNvSpPr>
          <p:nvPr>
            <p:ph type="sldNum" sz="quarter" idx="5"/>
          </p:nvPr>
        </p:nvSpPr>
        <p:spPr/>
      </p:sp>
    </p:spTree>
    <p:extLst>
      <p:ext uri="{BB962C8B-B14F-4D97-AF65-F5344CB8AC3E}">
        <p14:creationId xmlns:p14="http://schemas.microsoft.com/office/powerpoint/2010/main" val="41981320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Menger's theorem is a result from graph theory. It states that the number of vertex-disjoint paths between two nodes — routes that share no intermediate node — equals the minimum number of nodes that must be removed to disconnect them. It is, in effect, a measure of how many genuinely independent routes connect two points. Applied to the concept graph, the conjecture is this: if concept A and concept B are connected by many independent paths through other concepts, the relationships along those paths should allow a probe to triangulate the boundary between A and B without any direct A-versus-B training data — much as two surveyed borders can pin down a third that has never been surveyed directly. Menger connectivity, written k(A,B), gives the hypothesis its quantitative form: the benefit of relational training should increase with k. That is the claim iterations 2 and 4 test directly. The distinction to hold onto throughout is between adjacency — two concepts sharing an edge — and connectivity — many independent paths between them. The results show the first helps and the second does not. (0:50)</a:t>
            </a:r>
          </a:p>
        </p:txBody>
      </p:sp>
    </p:spTree>
    <p:extLst>
      <p:ext uri="{BB962C8B-B14F-4D97-AF65-F5344CB8AC3E}">
        <p14:creationId xmlns:p14="http://schemas.microsoft.com/office/powerpoint/2010/main" val="4031393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E5335-09E0-420B-B2F7-D2EAC6FB4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85BB90-AA8F-A9A3-C63F-C25A009F04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F4D91A-02DC-1210-8299-CFFA2F1E7D47}"/>
              </a:ext>
            </a:extLst>
          </p:cNvPr>
          <p:cNvSpPr>
            <a:spLocks noGrp="1"/>
          </p:cNvSpPr>
          <p:nvPr>
            <p:ph type="body" sz="quarter" idx="3"/>
          </p:nvPr>
        </p:nvSpPr>
        <p:spPr/>
        <p:txBody>
          <a:bodyPr/>
          <a:lstStyle/>
          <a:p>
            <a:r>
              <a:rPr lang="en-US" dirty="0"/>
              <a:t>The setup follows standard interpretability practice: the mean-pooled residual stream at layer 18 of Gemma-2-9B, logistic-regression probes, 30 seeds, over 15 concepts and a curated 26-edge graph. The critical design decision is out-of-distribution evaluation. Passages are generated across four surface-distinct contexts; probes are trained on three and tested on the held-out fourth. Without this control, surface vocabulary saturates discrimination to near-perfect accuracy and the experiment retains no headroom. </a:t>
            </a:r>
          </a:p>
        </p:txBody>
      </p:sp>
      <p:sp>
        <p:nvSpPr>
          <p:cNvPr id="4" name="Slide Number Placeholder 3">
            <a:extLst>
              <a:ext uri="{FF2B5EF4-FFF2-40B4-BE49-F238E27FC236}">
                <a16:creationId xmlns:a16="http://schemas.microsoft.com/office/drawing/2014/main" id="{F95FCE2E-7C54-0F45-C7C3-6B72E4D410DE}"/>
              </a:ext>
            </a:extLst>
          </p:cNvPr>
          <p:cNvSpPr>
            <a:spLocks noGrp="1"/>
          </p:cNvSpPr>
          <p:nvPr>
            <p:ph type="sldNum" sz="quarter" idx="5"/>
          </p:nvPr>
        </p:nvSpPr>
        <p:spPr/>
      </p:sp>
    </p:spTree>
    <p:extLst>
      <p:ext uri="{BB962C8B-B14F-4D97-AF65-F5344CB8AC3E}">
        <p14:creationId xmlns:p14="http://schemas.microsoft.com/office/powerpoint/2010/main" val="3450321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A concrete example grounds the design. The following is an actual passage from the dataset, generated for the concept Misdirection in the workplace context: “When the client asked why the launch date had slipped by three weeks, the project lead smiled and pulled up a different slide. ‘Before we get into timelines, let me show you the incredible engagement numbers from the beta — these are honestly the most exciting metrics I’ve seen all year.’” Note that no passage ever names its concept; the behaviour is shown, not labelled. Each of the 15 concepts has 280 such passages, spread across four surface-distinct contexts — workplace, online, personal relationships, and marketplace — which differ sharply in vocabulary but not in the underlying behaviour. The probe for Misdirection is trained on passages from three of those contexts and tested on the held-out fourth, so it cannot succeed by memorising office vocabulary; it must recognise the behaviour itself in a setting it has never seen. At test time the probe must separate held-out Misdirection passages from negative examples — and which negatives it is trained against is the experimental variable: unrelated concepts drawn at random, or its graph siblings, such as ManipulativeCommunication, the concept Misdirection is most readily confused with. (0:55)</a:t>
            </a:r>
          </a:p>
        </p:txBody>
      </p:sp>
    </p:spTree>
    <p:extLst>
      <p:ext uri="{BB962C8B-B14F-4D97-AF65-F5344CB8AC3E}">
        <p14:creationId xmlns:p14="http://schemas.microsoft.com/office/powerpoint/2010/main" val="1820815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274C0-08B1-BDE4-35B2-03A53789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322B06-B081-FB58-ED8A-3B3275E78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73A461A-81EF-0A37-2D62-377BE401189B}"/>
              </a:ext>
            </a:extLst>
          </p:cNvPr>
          <p:cNvSpPr>
            <a:spLocks noGrp="1"/>
          </p:cNvSpPr>
          <p:nvPr>
            <p:ph type="body" sz="quarter" idx="3"/>
          </p:nvPr>
        </p:nvSpPr>
        <p:spPr/>
        <p:txBody>
          <a:bodyPr/>
          <a:lstStyle/>
          <a:p>
            <a:r>
              <a:rPr lang="en-US" dirty="0"/>
              <a:t>Iteration 1 initially indicated a positive effect. Adversarial review verified this as a noise artifact, compounded by a mis-specification: relational knowledge had been </a:t>
            </a:r>
            <a:r>
              <a:rPr lang="en-US" dirty="0" err="1"/>
              <a:t>operationalised</a:t>
            </a:r>
            <a:r>
              <a:rPr lang="en-US" dirty="0"/>
              <a:t> as additional positive examples rather than as contrastive structure. The design was rebuilt. Iteration 2 was a pair-matched, powered test over 105 pairs, with the decision rule fixed in advance. It returned a clean null — a partial Spearman correlation of minus 0.125 between connectivity and probe benefit. Because the analysis was pre-registered, the null is reported as a result. It is subsequently explained, rather than merely recorded. (1:00)</a:t>
            </a:r>
          </a:p>
        </p:txBody>
      </p:sp>
      <p:sp>
        <p:nvSpPr>
          <p:cNvPr id="4" name="Slide Number Placeholder 3">
            <a:extLst>
              <a:ext uri="{FF2B5EF4-FFF2-40B4-BE49-F238E27FC236}">
                <a16:creationId xmlns:a16="http://schemas.microsoft.com/office/drawing/2014/main" id="{2A52F475-23F3-4E25-60C6-43899A12786A}"/>
              </a:ext>
            </a:extLst>
          </p:cNvPr>
          <p:cNvSpPr>
            <a:spLocks noGrp="1"/>
          </p:cNvSpPr>
          <p:nvPr>
            <p:ph type="sldNum" sz="quarter" idx="5"/>
          </p:nvPr>
        </p:nvSpPr>
        <p:spPr/>
      </p:sp>
    </p:spTree>
    <p:extLst>
      <p:ext uri="{BB962C8B-B14F-4D97-AF65-F5344CB8AC3E}">
        <p14:creationId xmlns:p14="http://schemas.microsoft.com/office/powerpoint/2010/main" val="10773526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4FF66-52BE-41A2-74B9-EC0016C82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6A0A8-5927-A877-528F-FBE78E85B14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651BCE3-DCDA-FAF3-79B5-428E8DB6B674}"/>
              </a:ext>
            </a:extLst>
          </p:cNvPr>
          <p:cNvSpPr>
            <a:spLocks noGrp="1"/>
          </p:cNvSpPr>
          <p:nvPr>
            <p:ph type="body" sz="quarter" idx="3"/>
          </p:nvPr>
        </p:nvSpPr>
        <p:spPr/>
        <p:txBody>
          <a:bodyPr/>
          <a:lstStyle/>
          <a:p>
            <a:r>
              <a:t>The correct operationalisation uses related concepts as hard negatives rather than additional positives — contrast for the probes, not coverage. Training each concept's probe against its graph siblings improves discrimination by approximately 0.06 F1. F1 is a standard detector score from zero to one, combining precision — how often a positive call is correct — with recall — how many true cases are caught; a 0.06 gain is substantial here, roughly the entire remaining headroom on a task where baseline performance is already near 0.9. A placebo-graph permutation confirms the effect is specific to the curated relationships rather than an artifact of having any graph at all: the edges are rewired at random into thousands of ‘placebo’ graphs and the test re-run; the shuffled graphs produce no benefit, and the probability of the true graph’s advantage arising by chance is p equals 0.002. Two bounds apply. Approximately one third of the effect is attributable to shared vocabulary — an upper bound, since the vocabulary regression over-controls. And the benefit is confined to direct adjacency. The pattern also replicates: the same experiment was run independently — a different model (Gemma-4-E4B), a different codebase, a different researcher — and produced the same numbers to within a few thousandths of F1: direct-neighbour negatives +0.057 against our +0.059, and the connectivity condition +0.008 against our +0.012. Independent replication of this kind is the strongest routine protection against results that are artifacts of one particular setup. (1:10)</a:t>
            </a:r>
          </a:p>
        </p:txBody>
      </p:sp>
      <p:sp>
        <p:nvSpPr>
          <p:cNvPr id="4" name="Slide Number Placeholder 3">
            <a:extLst>
              <a:ext uri="{FF2B5EF4-FFF2-40B4-BE49-F238E27FC236}">
                <a16:creationId xmlns:a16="http://schemas.microsoft.com/office/drawing/2014/main" id="{35D81529-D17D-017F-B006-FA97E3C3EC22}"/>
              </a:ext>
            </a:extLst>
          </p:cNvPr>
          <p:cNvSpPr>
            <a:spLocks noGrp="1"/>
          </p:cNvSpPr>
          <p:nvPr>
            <p:ph type="sldNum" sz="quarter" idx="5"/>
          </p:nvPr>
        </p:nvSpPr>
        <p:spPr/>
      </p:sp>
    </p:spTree>
    <p:extLst>
      <p:ext uri="{BB962C8B-B14F-4D97-AF65-F5344CB8AC3E}">
        <p14:creationId xmlns:p14="http://schemas.microsoft.com/office/powerpoint/2010/main" val="42289509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9B28-A429-BF2C-401C-49A676406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68F35F-8388-05E2-D5E0-34E98878B09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B8D5FD-1E67-6A2C-7854-97BAA625F165}"/>
              </a:ext>
            </a:extLst>
          </p:cNvPr>
          <p:cNvSpPr>
            <a:spLocks noGrp="1"/>
          </p:cNvSpPr>
          <p:nvPr>
            <p:ph type="body" sz="quarter" idx="3"/>
          </p:nvPr>
        </p:nvSpPr>
        <p:spPr/>
        <p:txBody>
          <a:bodyPr/>
          <a:lstStyle/>
          <a:p>
            <a:r>
              <a:rPr lang="en-US" dirty="0"/>
              <a:t>The clean test of connectivity, as distinct from adjacency, is the held-out-edge condition: the probe is trained on all graph-aware negatives except the sibling against which it is evaluated. If connectivity carries transferable signal, the remaining relationships should partially reconstruct the withheld boundary. They do not — the effect is approximately 0.01. To address the possibility that this reflects insufficient data, we pre-registered a within-model scaling sweep to ten times the original volume. The held-out-edge delta does not increase; at the top volume it is 0.005, with a 95% confidence interval spanning zero. The minimum detectable effect at this power was 0.014, and the same design resolves the direct-</a:t>
            </a:r>
            <a:r>
              <a:rPr lang="en-US" dirty="0" err="1"/>
              <a:t>neighbour</a:t>
            </a:r>
            <a:r>
              <a:rPr lang="en-US" dirty="0"/>
              <a:t> effect at three times that magnitude. The alternate-path, or Menger, prediction is therefore refuted at adequate power. (1:15)</a:t>
            </a:r>
          </a:p>
        </p:txBody>
      </p:sp>
      <p:sp>
        <p:nvSpPr>
          <p:cNvPr id="4" name="Slide Number Placeholder 3">
            <a:extLst>
              <a:ext uri="{FF2B5EF4-FFF2-40B4-BE49-F238E27FC236}">
                <a16:creationId xmlns:a16="http://schemas.microsoft.com/office/drawing/2014/main" id="{3B90FB0D-3E94-6054-4B64-56251AFAD791}"/>
              </a:ext>
            </a:extLst>
          </p:cNvPr>
          <p:cNvSpPr>
            <a:spLocks noGrp="1"/>
          </p:cNvSpPr>
          <p:nvPr>
            <p:ph type="sldNum" sz="quarter" idx="5"/>
          </p:nvPr>
        </p:nvSpPr>
        <p:spPr/>
      </p:sp>
    </p:spTree>
    <p:extLst>
      <p:ext uri="{BB962C8B-B14F-4D97-AF65-F5344CB8AC3E}">
        <p14:creationId xmlns:p14="http://schemas.microsoft.com/office/powerpoint/2010/main" val="6703996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DE7BC-DA0A-FF0C-032D-7158EC2D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39985-2B82-7332-00FC-AE380D08D3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A755CE-2548-7BB1-0074-0834AA0D32BB}"/>
              </a:ext>
            </a:extLst>
          </p:cNvPr>
          <p:cNvSpPr>
            <a:spLocks noGrp="1"/>
          </p:cNvSpPr>
          <p:nvPr>
            <p:ph type="body" sz="quarter" idx="3"/>
          </p:nvPr>
        </p:nvSpPr>
        <p:spPr/>
        <p:txBody>
          <a:bodyPr/>
          <a:lstStyle/>
          <a:p>
            <a:r>
              <a:rPr lang="en-US" dirty="0"/>
              <a:t>A single model accounts for the full pattern. A concept is represented as a centroid with a surrounding distribution; the probe's boundary lies at the distribution's tail. Positive examples sharpen the centroid but do not relocate the boundary; each negative constrains the boundary facet it faces. This predicts that additional positives have no effect once the centroid is well estimated, that sibling negatives improve the tested boundary, and that the benefit decreases with distance from it. The held-out-edge effect is null because, in this graph, the alternate paths route through the </a:t>
            </a:r>
            <a:r>
              <a:rPr lang="en-US" dirty="0" err="1"/>
              <a:t>ManipulativeCommunication</a:t>
            </a:r>
            <a:r>
              <a:rPr lang="en-US" dirty="0"/>
              <a:t> hub: the constraints are correlated rather than independent. Connectivity matters only insofar as it counts independent constraints. (0:35)</a:t>
            </a:r>
          </a:p>
        </p:txBody>
      </p:sp>
      <p:sp>
        <p:nvSpPr>
          <p:cNvPr id="4" name="Slide Number Placeholder 3">
            <a:extLst>
              <a:ext uri="{FF2B5EF4-FFF2-40B4-BE49-F238E27FC236}">
                <a16:creationId xmlns:a16="http://schemas.microsoft.com/office/drawing/2014/main" id="{F19F7E46-5F1C-1693-5862-58E75B983BD1}"/>
              </a:ext>
            </a:extLst>
          </p:cNvPr>
          <p:cNvSpPr>
            <a:spLocks noGrp="1"/>
          </p:cNvSpPr>
          <p:nvPr>
            <p:ph type="sldNum" sz="quarter" idx="5"/>
          </p:nvPr>
        </p:nvSpPr>
        <p:spPr/>
      </p:sp>
    </p:spTree>
    <p:extLst>
      <p:ext uri="{BB962C8B-B14F-4D97-AF65-F5344CB8AC3E}">
        <p14:creationId xmlns:p14="http://schemas.microsoft.com/office/powerpoint/2010/main" val="5542451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E5750-E0FD-7578-E639-718E603C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54419-C779-D707-3C6C-25E3359A64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2617B9F-09F9-1AB9-C0DC-B40FED6E9155}"/>
              </a:ext>
            </a:extLst>
          </p:cNvPr>
          <p:cNvSpPr>
            <a:spLocks noGrp="1"/>
          </p:cNvSpPr>
          <p:nvPr>
            <p:ph type="body" sz="quarter" idx="3"/>
          </p:nvPr>
        </p:nvSpPr>
        <p:spPr/>
        <p:txBody>
          <a:bodyPr/>
          <a:lstStyle/>
          <a:p>
            <a:r>
              <a:rPr lang="en-US" dirty="0"/>
              <a:t>An unsupervised geometric check both corroborates the mechanism and illustrates the analysis discipline. Raw cosine similarity between concept centroids suggested near-total overlap — 0.971 for adjacent versus 0.961 for non-adjacent pairs — which would imply the graph is not represented in the model. This is an anisotropy artifact: transformer activations occupy a narrow cone, inflating all similarities. After mean-</a:t>
            </a:r>
            <a:r>
              <a:rPr lang="en-US" dirty="0" err="1"/>
              <a:t>centring</a:t>
            </a:r>
            <a:r>
              <a:rPr lang="en-US" dirty="0"/>
              <a:t>, the structure is recovered: adjacent pairs separate by 0.166, far-domain controls fall well outside the cluster at minus 0.147, while graded graph distance remains uncorrelated with representation. The geometry independently reproduces the probe result — local structure is real, multi-hop structure is absent — and the probe results themselves are unaffected, since a linear classifier removes the common direction. This is the second instance in which a raw metric was misleading and a control proved decisive. (0:55)</a:t>
            </a:r>
          </a:p>
        </p:txBody>
      </p:sp>
      <p:sp>
        <p:nvSpPr>
          <p:cNvPr id="4" name="Slide Number Placeholder 3">
            <a:extLst>
              <a:ext uri="{FF2B5EF4-FFF2-40B4-BE49-F238E27FC236}">
                <a16:creationId xmlns:a16="http://schemas.microsoft.com/office/drawing/2014/main" id="{AE073E54-DCAE-1A79-46A8-B128A7B53A73}"/>
              </a:ext>
            </a:extLst>
          </p:cNvPr>
          <p:cNvSpPr>
            <a:spLocks noGrp="1"/>
          </p:cNvSpPr>
          <p:nvPr>
            <p:ph type="sldNum" sz="quarter" idx="5"/>
          </p:nvPr>
        </p:nvSpPr>
        <p:spPr/>
      </p:sp>
    </p:spTree>
    <p:extLst>
      <p:ext uri="{BB962C8B-B14F-4D97-AF65-F5344CB8AC3E}">
        <p14:creationId xmlns:p14="http://schemas.microsoft.com/office/powerpoint/2010/main" val="24522391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4C038-C5F6-21A2-00C9-C8B47353D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15865A-CDC7-A8EE-47D5-78DC1E6CDC3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2F466E-FBA8-B84B-3010-ECE80DD9EAD5}"/>
              </a:ext>
            </a:extLst>
          </p:cNvPr>
          <p:cNvSpPr>
            <a:spLocks noGrp="1"/>
          </p:cNvSpPr>
          <p:nvPr>
            <p:ph type="body" sz="quarter" idx="3"/>
          </p:nvPr>
        </p:nvSpPr>
        <p:spPr/>
        <p:txBody>
          <a:bodyPr/>
          <a:lstStyle/>
          <a:p>
            <a:r>
              <a:t>This slide turns the findings into a deployment recipe; the table reads as follows. Each row is a way of choosing the negative training examples for a concept’s detector. Each column is a kind of input that might falsely trigger it. Every number is a false-positive rate — the fraction of inputs wrongly flagged — measured at an operating point where the detector still catches 95 percent of genuine cases. The column heading FPR @ 95% TPR expands to exactly that: false-positive rate at a 95-percent true-positive rate. Three observations. First, a bare 15-way classifier has no way to say ‘none of these’: every unrelated input — a passage about a dog — gets assigned to some safety concept regardless. Adding one inexpensive ‘other’ category, trained on a handful of far-away topics, eliminates that failure entirely — the far-OOD column, meaning out-of-distribution inputs unlike anything in training, falls to zero. Second, each choice of negatives protects only against the confusions it was trained on. Graph siblings protect against neighbouring concepts but provide almost no protection against the model’s actual confusers that sit off the graph; negatives mined from the model’s own mistakes protect exactly there — a 20-percentage-point reduction in false positives — but not elsewhere. Third, the recommended pipeline is therefore tiered by cost: inexpensive negatives everywhere, an inexpensive audit to locate the remaining gap, and the expensive mining spent only on that gap. One caution: the score threshold that fixes the operating point drifts when the input distribution shifts — thresholds calibrated on training data degraded badly on held-out settings, and in production there are no labels available to recalibrate. (1:05)</a:t>
            </a:r>
          </a:p>
        </p:txBody>
      </p:sp>
      <p:sp>
        <p:nvSpPr>
          <p:cNvPr id="4" name="Slide Number Placeholder 3">
            <a:extLst>
              <a:ext uri="{FF2B5EF4-FFF2-40B4-BE49-F238E27FC236}">
                <a16:creationId xmlns:a16="http://schemas.microsoft.com/office/drawing/2014/main" id="{D3E7502F-54A1-8B32-2A81-DEC6F4D9F303}"/>
              </a:ext>
            </a:extLst>
          </p:cNvPr>
          <p:cNvSpPr>
            <a:spLocks noGrp="1"/>
          </p:cNvSpPr>
          <p:nvPr>
            <p:ph type="sldNum" sz="quarter" idx="5"/>
          </p:nvPr>
        </p:nvSpPr>
        <p:spPr/>
      </p:sp>
    </p:spTree>
    <p:extLst>
      <p:ext uri="{BB962C8B-B14F-4D97-AF65-F5344CB8AC3E}">
        <p14:creationId xmlns:p14="http://schemas.microsoft.com/office/powerpoint/2010/main" val="42773882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06BDC-E897-C47F-B0C8-3594E4F05A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5FB1A3-8949-F9C3-007D-15FAE70C5A1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14AB9B-3DAE-C15D-E824-A472DE1D4553}"/>
              </a:ext>
            </a:extLst>
          </p:cNvPr>
          <p:cNvSpPr>
            <a:spLocks noGrp="1"/>
          </p:cNvSpPr>
          <p:nvPr>
            <p:ph type="body" sz="quarter" idx="3"/>
          </p:nvPr>
        </p:nvSpPr>
        <p:spPr/>
        <p:txBody>
          <a:bodyPr/>
          <a:lstStyle/>
          <a:p>
            <a:r>
              <a:rPr lang="en-US" dirty="0"/>
              <a:t>In summary: relational structure improves safety-concept probes only as local hard-negative contrast — approximately 0.06 F1, roughly one third lexical, replicated across two models — while the graph's connectivity contributes no measurable benefit at any data volume tested. Methodologically, pre-registration and adversarial verification were each decisive: on two occasions a raw signal was misleading and was identified by a control. Finally, the relational structure is better understood not as a classifier but as a map of where to extend coverage — which is the cartographic objective of the </a:t>
            </a:r>
            <a:r>
              <a:rPr lang="en-US" dirty="0" err="1"/>
              <a:t>HatCat</a:t>
            </a:r>
            <a:r>
              <a:rPr lang="en-US" dirty="0"/>
              <a:t>. Future work includes contrast-prompted generation, a near-but-out-of-set rejection test, and a connectivity test that counts independent constraints rather than raw edges.</a:t>
            </a:r>
          </a:p>
        </p:txBody>
      </p:sp>
      <p:sp>
        <p:nvSpPr>
          <p:cNvPr id="4" name="Slide Number Placeholder 3">
            <a:extLst>
              <a:ext uri="{FF2B5EF4-FFF2-40B4-BE49-F238E27FC236}">
                <a16:creationId xmlns:a16="http://schemas.microsoft.com/office/drawing/2014/main" id="{89511550-CEDD-A748-9972-F572D54B4290}"/>
              </a:ext>
            </a:extLst>
          </p:cNvPr>
          <p:cNvSpPr>
            <a:spLocks noGrp="1"/>
          </p:cNvSpPr>
          <p:nvPr>
            <p:ph type="sldNum" sz="quarter" idx="5"/>
          </p:nvPr>
        </p:nvSpPr>
        <p:spPr/>
      </p:sp>
    </p:spTree>
    <p:extLst>
      <p:ext uri="{BB962C8B-B14F-4D97-AF65-F5344CB8AC3E}">
        <p14:creationId xmlns:p14="http://schemas.microsoft.com/office/powerpoint/2010/main" val="3481908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D61E3EF-F35B-8FA4-D017-D22261C0A3E8}"/>
              </a:ext>
            </a:extLst>
          </p:cNvPr>
          <p:cNvGrpSpPr/>
          <p:nvPr/>
        </p:nvGrpSpPr>
        <p:grpSpPr>
          <a:xfrm>
            <a:off x="639232" y="2176158"/>
            <a:ext cx="10913535" cy="2505684"/>
            <a:chOff x="550333" y="2290227"/>
            <a:chExt cx="10913535" cy="2505684"/>
          </a:xfrm>
        </p:grpSpPr>
        <p:sp>
          <p:nvSpPr>
            <p:cNvPr id="5" name="TextBox 4">
              <a:extLst>
                <a:ext uri="{FF2B5EF4-FFF2-40B4-BE49-F238E27FC236}">
                  <a16:creationId xmlns:a16="http://schemas.microsoft.com/office/drawing/2014/main" id="{31EB3D9A-C8F9-D673-FD74-B50A352CA8E1}"/>
                </a:ext>
              </a:extLst>
            </p:cNvPr>
            <p:cNvSpPr txBox="1"/>
            <p:nvPr/>
          </p:nvSpPr>
          <p:spPr>
            <a:xfrm>
              <a:off x="550333" y="4088025"/>
              <a:ext cx="7399867" cy="707886"/>
            </a:xfrm>
            <a:prstGeom prst="rect">
              <a:avLst/>
            </a:prstGeom>
            <a:noFill/>
          </p:spPr>
          <p:txBody>
            <a:bodyPr wrap="square">
              <a:spAutoFit/>
            </a:bodyPr>
            <a:lstStyle/>
            <a:p>
              <a:pPr>
                <a:defRPr sz="2200">
                  <a:solidFill>
                    <a:srgbClr val="6E6A62"/>
                  </a:solidFill>
                </a:defRPr>
              </a:pPr>
              <a:r>
                <a:rPr lang="en-US" dirty="0"/>
                <a:t>Jason Boudville</a:t>
              </a:r>
            </a:p>
            <a:p>
              <a:pPr>
                <a:defRPr sz="1800" i="1">
                  <a:solidFill>
                    <a:srgbClr val="8C2D2D"/>
                  </a:solidFill>
                </a:defRPr>
              </a:pPr>
              <a:r>
                <a:rPr lang="en-US" dirty="0"/>
                <a:t>Four iterations, two models, independently replicated — a bounded result.</a:t>
              </a:r>
            </a:p>
          </p:txBody>
        </p:sp>
        <p:sp>
          <p:nvSpPr>
            <p:cNvPr id="7" name="TextBox 6">
              <a:extLst>
                <a:ext uri="{FF2B5EF4-FFF2-40B4-BE49-F238E27FC236}">
                  <a16:creationId xmlns:a16="http://schemas.microsoft.com/office/drawing/2014/main" id="{221ABF08-6301-E5F7-7059-125971E0C7AA}"/>
                </a:ext>
              </a:extLst>
            </p:cNvPr>
            <p:cNvSpPr txBox="1"/>
            <p:nvPr/>
          </p:nvSpPr>
          <p:spPr>
            <a:xfrm>
              <a:off x="550334" y="2290227"/>
              <a:ext cx="10913534" cy="1138773"/>
            </a:xfrm>
            <a:prstGeom prst="rect">
              <a:avLst/>
            </a:prstGeom>
            <a:noFill/>
          </p:spPr>
          <p:txBody>
            <a:bodyPr wrap="square">
              <a:spAutoFit/>
            </a:bodyPr>
            <a:lstStyle/>
            <a:p>
              <a:pPr>
                <a:defRPr sz="3400" b="1">
                  <a:solidFill>
                    <a:srgbClr val="2B2B28"/>
                  </a:solidFill>
                  <a:latin typeface="Georgia"/>
                </a:defRPr>
              </a:pPr>
              <a:r>
                <a:rPr lang="en-US" dirty="0"/>
                <a:t>Does relational structure improve linear-probe</a:t>
              </a:r>
            </a:p>
            <a:p>
              <a:pPr>
                <a:defRPr sz="3400" b="1">
                  <a:solidFill>
                    <a:srgbClr val="2B2B28"/>
                  </a:solidFill>
                  <a:latin typeface="Georgia"/>
                </a:defRPr>
              </a:pPr>
              <a:r>
                <a:rPr lang="en-US" dirty="0"/>
                <a:t>detection of related AI-safety concepts?</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5AAFD876-F669-6EAD-0593-F5230B41321E}"/>
            </a:ext>
          </a:extLst>
        </p:cNvPr>
        <p:cNvGrpSpPr/>
        <p:nvPr/>
      </p:nvGrpSpPr>
      <p:grpSpPr>
        <a:xfrm>
          <a:off x="0" y="0"/>
          <a:ext cx="0" cy="0"/>
          <a:chOff x="0" y="0"/>
          <a:chExt cx="0" cy="0"/>
        </a:xfrm>
      </p:grpSpPr>
      <p:pic>
        <p:nvPicPr>
          <p:cNvPr id="4" name="Picture 3" descr="slide2_graph.png">
            <a:extLst>
              <a:ext uri="{FF2B5EF4-FFF2-40B4-BE49-F238E27FC236}">
                <a16:creationId xmlns:a16="http://schemas.microsoft.com/office/drawing/2014/main" id="{18660A8C-1858-E003-25DD-BC6B10FCFF77}"/>
              </a:ext>
            </a:extLst>
          </p:cNvPr>
          <p:cNvPicPr>
            <a:picLocks noChangeAspect="1"/>
          </p:cNvPicPr>
          <p:nvPr/>
        </p:nvPicPr>
        <p:blipFill>
          <a:blip r:embed="rId3"/>
          <a:srcRect b="5797"/>
          <a:stretch>
            <a:fillRect/>
          </a:stretch>
        </p:blipFill>
        <p:spPr>
          <a:xfrm>
            <a:off x="457200" y="1404263"/>
            <a:ext cx="7498079" cy="4865914"/>
          </a:xfrm>
          <a:prstGeom prst="rect">
            <a:avLst/>
          </a:prstGeom>
        </p:spPr>
      </p:pic>
      <p:sp>
        <p:nvSpPr>
          <p:cNvPr id="7" name="TextBox 6">
            <a:extLst>
              <a:ext uri="{FF2B5EF4-FFF2-40B4-BE49-F238E27FC236}">
                <a16:creationId xmlns:a16="http://schemas.microsoft.com/office/drawing/2014/main" id="{91B2087B-47B9-1A7D-68C6-E62AD0FC184C}"/>
              </a:ext>
            </a:extLst>
          </p:cNvPr>
          <p:cNvSpPr txBox="1"/>
          <p:nvPr/>
        </p:nvSpPr>
        <p:spPr>
          <a:xfrm>
            <a:off x="457200" y="587823"/>
            <a:ext cx="6096000" cy="584775"/>
          </a:xfrm>
          <a:prstGeom prst="rect">
            <a:avLst/>
          </a:prstGeom>
          <a:noFill/>
        </p:spPr>
        <p:txBody>
          <a:bodyPr wrap="square">
            <a:spAutoFit/>
          </a:bodyPr>
          <a:lstStyle/>
          <a:p>
            <a:pPr>
              <a:defRPr sz="2600" b="1">
                <a:solidFill>
                  <a:srgbClr val="2B2B28"/>
                </a:solidFill>
                <a:latin typeface="Georgia"/>
              </a:defRPr>
            </a:pPr>
            <a:r>
              <a:rPr lang="en-AU" sz="3200" dirty="0"/>
              <a:t>Motivation</a:t>
            </a:r>
          </a:p>
        </p:txBody>
      </p:sp>
      <p:sp>
        <p:nvSpPr>
          <p:cNvPr id="9" name="TextBox 8">
            <a:extLst>
              <a:ext uri="{FF2B5EF4-FFF2-40B4-BE49-F238E27FC236}">
                <a16:creationId xmlns:a16="http://schemas.microsoft.com/office/drawing/2014/main" id="{E4076451-5BEF-7907-04F3-0FF3BABA7CB0}"/>
              </a:ext>
            </a:extLst>
          </p:cNvPr>
          <p:cNvSpPr txBox="1"/>
          <p:nvPr/>
        </p:nvSpPr>
        <p:spPr>
          <a:xfrm>
            <a:off x="8238309" y="1404263"/>
            <a:ext cx="3496492" cy="3406061"/>
          </a:xfrm>
          <a:prstGeom prst="rect">
            <a:avLst/>
          </a:prstGeom>
          <a:noFill/>
        </p:spPr>
        <p:txBody>
          <a:bodyPr wrap="square">
            <a:spAutoFit/>
          </a:bodyPr>
          <a:lstStyle/>
          <a:p>
            <a:pPr>
              <a:spcAft>
                <a:spcPts val="1000"/>
              </a:spcAft>
              <a:defRPr sz="1700" b="0" i="0">
                <a:solidFill>
                  <a:srgbClr val="2B2B28"/>
                </a:solidFill>
                <a:latin typeface="Calibri"/>
              </a:defRPr>
            </a:pPr>
            <a:r>
              <a:rPr lang="en-US" dirty="0"/>
              <a:t>Safety monitoring needs a detector “a lens” per </a:t>
            </a:r>
            <a:r>
              <a:rPr lang="en-US" dirty="0" err="1"/>
              <a:t>behaviour</a:t>
            </a:r>
            <a:r>
              <a:rPr lang="en-US" dirty="0"/>
              <a:t> of concern.</a:t>
            </a:r>
          </a:p>
          <a:p>
            <a:pPr>
              <a:spcAft>
                <a:spcPts val="1000"/>
              </a:spcAft>
              <a:defRPr sz="1700" b="0" i="0">
                <a:solidFill>
                  <a:srgbClr val="2B2B28"/>
                </a:solidFill>
                <a:latin typeface="Calibri"/>
              </a:defRPr>
            </a:pPr>
            <a:r>
              <a:rPr lang="en-US" dirty="0"/>
              <a:t>These concepts are not independent: they form a relational graph.</a:t>
            </a:r>
          </a:p>
          <a:p>
            <a:pPr>
              <a:spcAft>
                <a:spcPts val="1000"/>
              </a:spcAft>
              <a:defRPr sz="1700" b="1" i="0">
                <a:solidFill>
                  <a:srgbClr val="2B2B28"/>
                </a:solidFill>
                <a:latin typeface="Calibri"/>
              </a:defRPr>
            </a:pPr>
            <a:r>
              <a:rPr lang="en-US" dirty="0"/>
              <a:t>Hypothesis: relational structure can be exploited</a:t>
            </a:r>
          </a:p>
          <a:p>
            <a:pPr lvl="1">
              <a:spcAft>
                <a:spcPts val="1000"/>
              </a:spcAft>
              <a:defRPr sz="1600" b="0" i="0">
                <a:solidFill>
                  <a:srgbClr val="2B2B28"/>
                </a:solidFill>
                <a:latin typeface="Calibri"/>
              </a:defRPr>
            </a:pPr>
            <a:r>
              <a:rPr lang="en-US" dirty="0"/>
              <a:t>    train each lens against its relatives; use connectivity to reduce data.</a:t>
            </a:r>
          </a:p>
          <a:p>
            <a:pPr>
              <a:spcAft>
                <a:spcPts val="1000"/>
              </a:spcAft>
              <a:defRPr sz="1600" b="0" i="1">
                <a:solidFill>
                  <a:srgbClr val="8C2D2D"/>
                </a:solidFill>
                <a:latin typeface="Calibri"/>
              </a:defRPr>
            </a:pPr>
            <a:r>
              <a:rPr lang="en-US" dirty="0"/>
              <a:t>Relational structure is cheap to specify; labelled data is not.</a:t>
            </a:r>
          </a:p>
        </p:txBody>
      </p:sp>
    </p:spTree>
    <p:extLst>
      <p:ext uri="{BB962C8B-B14F-4D97-AF65-F5344CB8AC3E}">
        <p14:creationId xmlns:p14="http://schemas.microsoft.com/office/powerpoint/2010/main" val="37372795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80497D71-FE64-968E-C052-D58FAC816D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AB285E2-C761-4BE5-1DC3-0197F2A627C2}"/>
              </a:ext>
            </a:extLst>
          </p:cNvPr>
          <p:cNvSpPr txBox="1"/>
          <p:nvPr/>
        </p:nvSpPr>
        <p:spPr>
          <a:xfrm>
            <a:off x="457199" y="587823"/>
            <a:ext cx="9322526" cy="584775"/>
          </a:xfrm>
          <a:prstGeom prst="rect">
            <a:avLst/>
          </a:prstGeom>
          <a:noFill/>
        </p:spPr>
        <p:txBody>
          <a:bodyPr wrap="square">
            <a:spAutoFit/>
          </a:bodyPr>
          <a:lstStyle/>
          <a:p>
            <a:pPr>
              <a:defRPr sz="2600" b="1">
                <a:solidFill>
                  <a:srgbClr val="2B2B28"/>
                </a:solidFill>
                <a:latin typeface="Georgia"/>
              </a:defRPr>
            </a:pPr>
            <a:r>
              <a:rPr lang="en-US" sz="3200" dirty="0"/>
              <a:t>The </a:t>
            </a:r>
            <a:r>
              <a:rPr lang="en-US" sz="3200" dirty="0" err="1"/>
              <a:t>HatCat</a:t>
            </a:r>
            <a:r>
              <a:rPr lang="en-US" sz="3200" dirty="0"/>
              <a:t> and the relational hypothesis</a:t>
            </a:r>
          </a:p>
        </p:txBody>
      </p:sp>
      <p:sp>
        <p:nvSpPr>
          <p:cNvPr id="3" name="TextBox 2">
            <a:extLst>
              <a:ext uri="{FF2B5EF4-FFF2-40B4-BE49-F238E27FC236}">
                <a16:creationId xmlns:a16="http://schemas.microsoft.com/office/drawing/2014/main" id="{95DD64FF-6FCE-0315-5A23-D6EC7CC23803}"/>
              </a:ext>
            </a:extLst>
          </p:cNvPr>
          <p:cNvSpPr txBox="1"/>
          <p:nvPr/>
        </p:nvSpPr>
        <p:spPr>
          <a:xfrm>
            <a:off x="457199" y="1473252"/>
            <a:ext cx="8686800" cy="4001095"/>
          </a:xfrm>
          <a:prstGeom prst="rect">
            <a:avLst/>
          </a:prstGeom>
          <a:noFill/>
        </p:spPr>
        <p:txBody>
          <a:bodyPr wrap="square">
            <a:spAutoFit/>
          </a:bodyPr>
          <a:lstStyle/>
          <a:p>
            <a:pPr>
              <a:spcAft>
                <a:spcPts val="1000"/>
              </a:spcAft>
              <a:defRPr sz="1900" b="1" i="0">
                <a:solidFill>
                  <a:srgbClr val="2B2B28"/>
                </a:solidFill>
                <a:latin typeface="Calibri"/>
              </a:defRPr>
            </a:pPr>
            <a:r>
              <a:rPr lang="en-US" dirty="0" err="1"/>
              <a:t>HatCat</a:t>
            </a:r>
            <a:r>
              <a:rPr lang="en-US" dirty="0"/>
              <a:t> — an interpretability </a:t>
            </a:r>
            <a:r>
              <a:rPr lang="en-US" dirty="0" err="1"/>
              <a:t>programme</a:t>
            </a:r>
            <a:r>
              <a:rPr lang="en-US" dirty="0"/>
              <a:t> building a navigable, interpretable map of the concepts a model represents.</a:t>
            </a:r>
          </a:p>
          <a:p>
            <a:pPr>
              <a:spcAft>
                <a:spcPts val="1000"/>
              </a:spcAft>
              <a:defRPr sz="800" b="0" i="0">
                <a:solidFill>
                  <a:srgbClr val="2B2B28"/>
                </a:solidFill>
                <a:latin typeface="Calibri"/>
              </a:defRPr>
            </a:pPr>
            <a:endParaRPr lang="en-US" dirty="0"/>
          </a:p>
          <a:p>
            <a:pPr>
              <a:spcAft>
                <a:spcPts val="1000"/>
              </a:spcAft>
              <a:defRPr sz="1800" b="0" i="0">
                <a:solidFill>
                  <a:srgbClr val="2B2B28"/>
                </a:solidFill>
                <a:latin typeface="Calibri"/>
              </a:defRPr>
            </a:pPr>
            <a:r>
              <a:rPr lang="en-US" dirty="0"/>
              <a:t>Not a single probe — an atlas of per-concept lenses, connected by a relational graph.</a:t>
            </a:r>
          </a:p>
          <a:p>
            <a:pPr>
              <a:spcAft>
                <a:spcPts val="1000"/>
              </a:spcAft>
              <a:defRPr sz="1800" b="0" i="0">
                <a:solidFill>
                  <a:srgbClr val="2B2B28"/>
                </a:solidFill>
                <a:latin typeface="Calibri"/>
              </a:defRPr>
            </a:pPr>
            <a:r>
              <a:rPr lang="en-US" dirty="0"/>
              <a:t>Premise: relational knowledge improves —</a:t>
            </a:r>
          </a:p>
          <a:p>
            <a:pPr lvl="1">
              <a:spcAft>
                <a:spcPts val="1000"/>
              </a:spcAft>
              <a:defRPr sz="1700" b="0" i="0">
                <a:solidFill>
                  <a:srgbClr val="2B2B28"/>
                </a:solidFill>
                <a:latin typeface="Calibri"/>
              </a:defRPr>
            </a:pPr>
            <a:r>
              <a:rPr lang="en-US" dirty="0"/>
              <a:t>    · discrimination (training against </a:t>
            </a:r>
            <a:r>
              <a:rPr lang="en-US" dirty="0" err="1"/>
              <a:t>neighbouring</a:t>
            </a:r>
            <a:r>
              <a:rPr lang="en-US" dirty="0"/>
              <a:t> concepts)</a:t>
            </a:r>
          </a:p>
          <a:p>
            <a:pPr lvl="1">
              <a:spcAft>
                <a:spcPts val="1000"/>
              </a:spcAft>
              <a:defRPr sz="1700" b="0" i="0">
                <a:solidFill>
                  <a:srgbClr val="2B2B28"/>
                </a:solidFill>
                <a:latin typeface="Calibri"/>
              </a:defRPr>
            </a:pPr>
            <a:r>
              <a:rPr lang="en-US" dirty="0"/>
              <a:t>    · coverage efficiency (the graph indicates where to probe; connectivity reaches</a:t>
            </a:r>
          </a:p>
          <a:p>
            <a:pPr lvl="1">
              <a:spcAft>
                <a:spcPts val="1000"/>
              </a:spcAft>
              <a:defRPr sz="1700" b="0" i="0">
                <a:solidFill>
                  <a:srgbClr val="2B2B28"/>
                </a:solidFill>
                <a:latin typeface="Calibri"/>
              </a:defRPr>
            </a:pPr>
            <a:r>
              <a:rPr lang="en-US" dirty="0"/>
              <a:t>      concepts lacking direct data)</a:t>
            </a:r>
          </a:p>
          <a:p>
            <a:pPr>
              <a:spcAft>
                <a:spcPts val="1000"/>
              </a:spcAft>
              <a:defRPr sz="800" b="0" i="0">
                <a:solidFill>
                  <a:srgbClr val="2B2B28"/>
                </a:solidFill>
                <a:latin typeface="Calibri"/>
              </a:defRPr>
            </a:pPr>
            <a:endParaRPr lang="en-US" dirty="0"/>
          </a:p>
          <a:p>
            <a:pPr>
              <a:spcAft>
                <a:spcPts val="1000"/>
              </a:spcAft>
              <a:defRPr sz="1800" b="0" i="0">
                <a:solidFill>
                  <a:srgbClr val="2B2B28"/>
                </a:solidFill>
                <a:latin typeface="Calibri"/>
              </a:defRPr>
            </a:pPr>
            <a:r>
              <a:rPr lang="en-US" dirty="0"/>
              <a:t>This capstone evaluates the sharpest, most falsifiable form of that premise:</a:t>
            </a:r>
          </a:p>
          <a:p>
            <a:pPr>
              <a:spcAft>
                <a:spcPts val="1000"/>
              </a:spcAft>
              <a:defRPr sz="2000" b="1" i="0">
                <a:solidFill>
                  <a:srgbClr val="8C2D2D"/>
                </a:solidFill>
                <a:latin typeface="Calibri"/>
              </a:defRPr>
            </a:pPr>
            <a:r>
              <a:rPr lang="en-US" dirty="0"/>
              <a:t>does the graph measurably help, and does connectivity scale?</a:t>
            </a:r>
          </a:p>
        </p:txBody>
      </p:sp>
      <p:pic>
        <p:nvPicPr>
          <p:cNvPr id="8" name="Picture 7">
            <a:extLst>
              <a:ext uri="{FF2B5EF4-FFF2-40B4-BE49-F238E27FC236}">
                <a16:creationId xmlns:a16="http://schemas.microsoft.com/office/drawing/2014/main" id="{1B803F4F-19A4-6183-4044-E19C49560399}"/>
              </a:ext>
            </a:extLst>
          </p:cNvPr>
          <p:cNvPicPr>
            <a:picLocks noChangeAspect="1"/>
          </p:cNvPicPr>
          <p:nvPr/>
        </p:nvPicPr>
        <p:blipFill>
          <a:blip r:embed="rId3"/>
          <a:srcRect l="8302" t="8781" r="4462" b="4413"/>
          <a:stretch>
            <a:fillRect/>
          </a:stretch>
        </p:blipFill>
        <p:spPr>
          <a:xfrm>
            <a:off x="9018280" y="3081087"/>
            <a:ext cx="2393260" cy="2393260"/>
          </a:xfrm>
          <a:prstGeom prst="rect">
            <a:avLst/>
          </a:prstGeom>
        </p:spPr>
      </p:pic>
    </p:spTree>
    <p:extLst>
      <p:ext uri="{BB962C8B-B14F-4D97-AF65-F5344CB8AC3E}">
        <p14:creationId xmlns:p14="http://schemas.microsoft.com/office/powerpoint/2010/main" val="862724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411480" y="201168"/>
            <a:ext cx="11338560" cy="868680"/>
          </a:xfrm>
          <a:prstGeom prst="rect">
            <a:avLst/>
          </a:prstGeom>
          <a:noFill/>
        </p:spPr>
        <p:txBody>
          <a:bodyPr wrap="none">
            <a:spAutoFit/>
          </a:bodyPr>
          <a:lstStyle/>
          <a:p>
            <a:pPr>
              <a:defRPr sz="2600" b="1">
                <a:solidFill>
                  <a:srgbClr val="2B2B28"/>
                </a:solidFill>
                <a:latin typeface="Georgia"/>
              </a:defRPr>
            </a:pPr>
            <a:r>
              <a:t>Menger connectivity: the hypothesis in quantitative form</a:t>
            </a:r>
          </a:p>
        </p:txBody>
      </p:sp>
      <p:pic>
        <p:nvPicPr>
          <p:cNvPr id="3" name="Picture 2" descr="menger_diagram.png"/>
          <p:cNvPicPr>
            <a:picLocks noChangeAspect="1"/>
          </p:cNvPicPr>
          <p:nvPr/>
        </p:nvPicPr>
        <p:blipFill>
          <a:blip r:embed="rId3"/>
          <a:stretch>
            <a:fillRect/>
          </a:stretch>
        </p:blipFill>
        <p:spPr>
          <a:xfrm>
            <a:off x="365760" y="1417320"/>
            <a:ext cx="6492240" cy="4143312"/>
          </a:xfrm>
          <a:prstGeom prst="rect">
            <a:avLst/>
          </a:prstGeom>
        </p:spPr>
      </p:pic>
      <p:sp>
        <p:nvSpPr>
          <p:cNvPr id="4" name="TextBox 3"/>
          <p:cNvSpPr txBox="1"/>
          <p:nvPr/>
        </p:nvSpPr>
        <p:spPr>
          <a:xfrm>
            <a:off x="7040880" y="1554480"/>
            <a:ext cx="4754880" cy="4846320"/>
          </a:xfrm>
          <a:prstGeom prst="rect">
            <a:avLst/>
          </a:prstGeom>
          <a:noFill/>
        </p:spPr>
        <p:txBody>
          <a:bodyPr wrap="square">
            <a:spAutoFit/>
          </a:bodyPr>
          <a:lstStyle/>
          <a:p>
            <a:pPr>
              <a:spcAft>
                <a:spcPts val="1000"/>
              </a:spcAft>
              <a:defRPr sz="1700" b="1" i="0">
                <a:solidFill>
                  <a:srgbClr val="2B2B28"/>
                </a:solidFill>
                <a:latin typeface="Calibri"/>
              </a:defRPr>
            </a:pPr>
            <a:r>
              <a:t>Menger's theorem:</a:t>
            </a:r>
          </a:p>
          <a:p>
            <a:pPr>
              <a:spcAft>
                <a:spcPts val="1000"/>
              </a:spcAft>
              <a:defRPr sz="1600" b="0" i="0">
                <a:solidFill>
                  <a:srgbClr val="2B2B28"/>
                </a:solidFill>
                <a:latin typeface="Calibri"/>
              </a:defRPr>
            </a:pPr>
            <a:r>
              <a:t>the number of vertex-disjoint paths between A and B equals the minimum number of nodes whose removal disconnects them.</a:t>
            </a:r>
          </a:p>
          <a:p>
            <a:pPr>
              <a:spcAft>
                <a:spcPts val="1000"/>
              </a:spcAft>
              <a:defRPr sz="1600" b="0" i="0">
                <a:solidFill>
                  <a:srgbClr val="2B2B28"/>
                </a:solidFill>
                <a:latin typeface="Calibri"/>
              </a:defRPr>
            </a:pPr>
            <a:r>
              <a:t>k(A, B) counts the genuinely independent routes between two concepts.</a:t>
            </a:r>
          </a:p>
          <a:p>
            <a:pPr>
              <a:spcAft>
                <a:spcPts val="1000"/>
              </a:spcAft>
              <a:defRPr sz="1600" b="1" i="0">
                <a:solidFill>
                  <a:srgbClr val="2B2B28"/>
                </a:solidFill>
                <a:latin typeface="Calibri"/>
              </a:defRPr>
            </a:pPr>
            <a:r>
              <a:t>The conjecture under test: probe benefit increases with k — the other relationships triangulate the A–B boundary with no direct A-vs-B data.</a:t>
            </a:r>
          </a:p>
          <a:p>
            <a:pPr>
              <a:spcAft>
                <a:spcPts val="1000"/>
              </a:spcAft>
              <a:defRPr sz="1600" b="1" i="0">
                <a:solidFill>
                  <a:srgbClr val="8C2D2D"/>
                </a:solidFill>
                <a:latin typeface="Calibri"/>
              </a:defRPr>
            </a:pPr>
            <a:r>
              <a:t>Adjacency = sharing an edge.  Connectivity = many independent paths.</a:t>
            </a:r>
          </a:p>
          <a:p>
            <a:pPr>
              <a:spcAft>
                <a:spcPts val="1000"/>
              </a:spcAft>
              <a:defRPr sz="1500" b="0" i="1">
                <a:solidFill>
                  <a:srgbClr val="6E6A62"/>
                </a:solidFill>
                <a:latin typeface="Calibri"/>
              </a:defRPr>
            </a:pPr>
            <a:r>
              <a:t>The results separate these two.</a:t>
            </a:r>
          </a:p>
        </p:txBody>
      </p:sp>
    </p:spTree>
    <p:extLst>
      <p:ext uri="{BB962C8B-B14F-4D97-AF65-F5344CB8AC3E}">
        <p14:creationId xmlns:p14="http://schemas.microsoft.com/office/powerpoint/2010/main" val="24333854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522ABA2B-EFA0-975D-0CFA-28E8347A6E2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A02A957-CA6F-5232-D67E-7D631EC59561}"/>
              </a:ext>
            </a:extLst>
          </p:cNvPr>
          <p:cNvSpPr txBox="1"/>
          <p:nvPr/>
        </p:nvSpPr>
        <p:spPr>
          <a:xfrm>
            <a:off x="457199" y="587823"/>
            <a:ext cx="9322526" cy="584775"/>
          </a:xfrm>
          <a:prstGeom prst="rect">
            <a:avLst/>
          </a:prstGeom>
          <a:noFill/>
        </p:spPr>
        <p:txBody>
          <a:bodyPr wrap="square">
            <a:spAutoFit/>
          </a:bodyPr>
          <a:lstStyle/>
          <a:p>
            <a:pPr>
              <a:defRPr sz="2600" b="1">
                <a:solidFill>
                  <a:srgbClr val="2B2B28"/>
                </a:solidFill>
                <a:latin typeface="Georgia"/>
              </a:defRPr>
            </a:pPr>
            <a:r>
              <a:rPr lang="en-AU" sz="3200" dirty="0"/>
              <a:t>Experimental setup</a:t>
            </a:r>
          </a:p>
        </p:txBody>
      </p:sp>
      <p:pic>
        <p:nvPicPr>
          <p:cNvPr id="4" name="Picture 3" descr="fig1_conditions.png"/>
          <p:cNvPicPr>
            <a:picLocks noChangeAspect="1"/>
          </p:cNvPicPr>
          <p:nvPr/>
        </p:nvPicPr>
        <p:blipFill>
          <a:blip r:embed="rId3"/>
          <a:stretch>
            <a:fillRect/>
          </a:stretch>
        </p:blipFill>
        <p:spPr>
          <a:xfrm>
            <a:off x="457200" y="1610466"/>
            <a:ext cx="7223760" cy="3637067"/>
          </a:xfrm>
          <a:prstGeom prst="rect">
            <a:avLst/>
          </a:prstGeom>
        </p:spPr>
      </p:pic>
      <p:sp>
        <p:nvSpPr>
          <p:cNvPr id="5" name="TextBox 4"/>
          <p:cNvSpPr txBox="1"/>
          <p:nvPr/>
        </p:nvSpPr>
        <p:spPr>
          <a:xfrm>
            <a:off x="8055185" y="1610466"/>
            <a:ext cx="3588175" cy="2821285"/>
          </a:xfrm>
          <a:prstGeom prst="rect">
            <a:avLst/>
          </a:prstGeom>
          <a:noFill/>
        </p:spPr>
        <p:txBody>
          <a:bodyPr wrap="square">
            <a:spAutoFit/>
          </a:bodyPr>
          <a:lstStyle/>
          <a:p>
            <a:pPr>
              <a:spcAft>
                <a:spcPts val="1000"/>
              </a:spcAft>
              <a:defRPr sz="1600" b="0" i="0">
                <a:solidFill>
                  <a:srgbClr val="2B2B28"/>
                </a:solidFill>
                <a:latin typeface="Calibri"/>
              </a:defRPr>
            </a:pPr>
            <a:r>
              <a:rPr dirty="0"/>
              <a:t>15 AI-safety concepts · curated 26-edge graph</a:t>
            </a:r>
          </a:p>
          <a:p>
            <a:pPr>
              <a:spcAft>
                <a:spcPts val="1000"/>
              </a:spcAft>
              <a:defRPr sz="1600" b="0" i="0">
                <a:solidFill>
                  <a:srgbClr val="2B2B28"/>
                </a:solidFill>
                <a:latin typeface="Calibri"/>
              </a:defRPr>
            </a:pPr>
            <a:r>
              <a:rPr dirty="0"/>
              <a:t>4 surface-distinct contexts per concept</a:t>
            </a:r>
          </a:p>
          <a:p>
            <a:pPr>
              <a:spcAft>
                <a:spcPts val="1000"/>
              </a:spcAft>
              <a:defRPr sz="1600" b="1" i="0">
                <a:solidFill>
                  <a:srgbClr val="2B2B28"/>
                </a:solidFill>
                <a:latin typeface="Calibri"/>
              </a:defRPr>
            </a:pPr>
            <a:r>
              <a:rPr dirty="0"/>
              <a:t>Out-of-distribution: train on 3 contexts, test on the held-out 1</a:t>
            </a:r>
          </a:p>
          <a:p>
            <a:pPr>
              <a:spcAft>
                <a:spcPts val="1000"/>
              </a:spcAft>
              <a:defRPr sz="1600" b="0" i="0">
                <a:solidFill>
                  <a:srgbClr val="2B2B28"/>
                </a:solidFill>
                <a:latin typeface="Calibri"/>
              </a:defRPr>
            </a:pPr>
            <a:r>
              <a:rPr dirty="0"/>
              <a:t>Layer-18 mean-pooled residual stream · logistic-regression probes</a:t>
            </a:r>
          </a:p>
          <a:p>
            <a:pPr>
              <a:spcAft>
                <a:spcPts val="1000"/>
              </a:spcAft>
              <a:defRPr sz="1600" b="0" i="0">
                <a:solidFill>
                  <a:srgbClr val="2B2B28"/>
                </a:solidFill>
                <a:latin typeface="Calibri"/>
              </a:defRPr>
            </a:pPr>
            <a:r>
              <a:rPr dirty="0"/>
              <a:t>Gemma-2-9B (+ Gemma-4-E4B peer replication</a:t>
            </a:r>
            <a:r>
              <a:rPr lang="en-AU" dirty="0"/>
              <a:t> by p0ss</a:t>
            </a:r>
            <a:r>
              <a:rPr dirty="0"/>
              <a:t>) · 30 seeds</a:t>
            </a:r>
          </a:p>
        </p:txBody>
      </p:sp>
    </p:spTree>
    <p:extLst>
      <p:ext uri="{BB962C8B-B14F-4D97-AF65-F5344CB8AC3E}">
        <p14:creationId xmlns:p14="http://schemas.microsoft.com/office/powerpoint/2010/main" val="1399520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411480" y="201168"/>
            <a:ext cx="11338560" cy="868680"/>
          </a:xfrm>
          <a:prstGeom prst="rect">
            <a:avLst/>
          </a:prstGeom>
          <a:noFill/>
        </p:spPr>
        <p:txBody>
          <a:bodyPr wrap="none">
            <a:spAutoFit/>
          </a:bodyPr>
          <a:lstStyle/>
          <a:p>
            <a:pPr>
              <a:defRPr sz="2600" b="1">
                <a:solidFill>
                  <a:srgbClr val="2B2B28"/>
                </a:solidFill>
                <a:latin typeface="Georgia"/>
              </a:defRPr>
            </a:pPr>
            <a:r>
              <a:t>A worked example: one passage, one probe, one test</a:t>
            </a:r>
          </a:p>
        </p:txBody>
      </p:sp>
      <p:sp>
        <p:nvSpPr>
          <p:cNvPr id="3" name="Rounded Rectangle 2"/>
          <p:cNvSpPr/>
          <p:nvPr/>
        </p:nvSpPr>
        <p:spPr>
          <a:xfrm>
            <a:off x="548640" y="1234440"/>
            <a:ext cx="11064240" cy="1783080"/>
          </a:xfrm>
          <a:prstGeom prst="roundRect">
            <a:avLst/>
          </a:prstGeom>
          <a:solidFill>
            <a:srgbClr val="F2EBDE"/>
          </a:solidFill>
          <a:ln w="15875">
            <a:solidFill>
              <a:srgbClr val="3A635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600" i="1">
                <a:solidFill>
                  <a:srgbClr val="2B2B28"/>
                </a:solidFill>
                <a:latin typeface="Georgia"/>
              </a:defRPr>
            </a:pPr>
            <a:r>
              <a:t>“When the client asked why the launch date had slipped by three weeks, the project lead smiled and pulled up a different slide. ‘Before we get into timelines, let me show you the incredible engagement numbers from the beta — these are honestly the most exciting metrics I’ve seen all year.’”</a:t>
            </a:r>
          </a:p>
          <a:p>
            <a:pPr>
              <a:defRPr sz="1300" b="1">
                <a:solidFill>
                  <a:srgbClr val="3A6351"/>
                </a:solidFill>
                <a:latin typeface="Calibri"/>
              </a:defRPr>
            </a:pPr>
            <a:r>
              <a:t>concept: Misdirection   ·   context: workplace   ·   an actual passage from the dataset</a:t>
            </a:r>
          </a:p>
        </p:txBody>
      </p:sp>
      <p:sp>
        <p:nvSpPr>
          <p:cNvPr id="4" name="TextBox 3"/>
          <p:cNvSpPr txBox="1"/>
          <p:nvPr/>
        </p:nvSpPr>
        <p:spPr>
          <a:xfrm>
            <a:off x="640080" y="3246120"/>
            <a:ext cx="10972800" cy="3200400"/>
          </a:xfrm>
          <a:prstGeom prst="rect">
            <a:avLst/>
          </a:prstGeom>
          <a:noFill/>
        </p:spPr>
        <p:txBody>
          <a:bodyPr wrap="square">
            <a:spAutoFit/>
          </a:bodyPr>
          <a:lstStyle/>
          <a:p>
            <a:pPr>
              <a:spcAft>
                <a:spcPts val="1000"/>
              </a:spcAft>
              <a:defRPr sz="1600" b="0" i="0">
                <a:solidFill>
                  <a:srgbClr val="2B2B28"/>
                </a:solidFill>
                <a:latin typeface="Calibri"/>
              </a:defRPr>
            </a:pPr>
            <a:r>
              <a:t>The concept is never named — the behaviour is shown, not labelled.</a:t>
            </a:r>
          </a:p>
          <a:p>
            <a:pPr>
              <a:spcAft>
                <a:spcPts val="1000"/>
              </a:spcAft>
              <a:defRPr sz="1600" b="0" i="0">
                <a:solidFill>
                  <a:srgbClr val="2B2B28"/>
                </a:solidFill>
                <a:latin typeface="Calibri"/>
              </a:defRPr>
            </a:pPr>
            <a:r>
              <a:t>280 passages per concept · 4 surface-distinct contexts: workplace · online · relationships · marketplace.</a:t>
            </a:r>
          </a:p>
          <a:p>
            <a:pPr>
              <a:spcAft>
                <a:spcPts val="1000"/>
              </a:spcAft>
              <a:defRPr sz="1600" b="1" i="0">
                <a:solidFill>
                  <a:srgbClr val="2B2B28"/>
                </a:solidFill>
                <a:latin typeface="Calibri"/>
              </a:defRPr>
            </a:pPr>
            <a:r>
              <a:t>Train on 3 contexts → test on the held-out 4th: the probe must recognise the behaviour, not the vocabulary.</a:t>
            </a:r>
          </a:p>
          <a:p>
            <a:pPr>
              <a:spcAft>
                <a:spcPts val="1000"/>
              </a:spcAft>
              <a:defRPr sz="1600" b="1" i="0">
                <a:solidFill>
                  <a:srgbClr val="8C2D2D"/>
                </a:solidFill>
                <a:latin typeface="Calibri"/>
              </a:defRPr>
            </a:pPr>
            <a:r>
              <a:t>The experimental variable: which negatives the probe trains against —</a:t>
            </a:r>
          </a:p>
          <a:p>
            <a:pPr>
              <a:spcAft>
                <a:spcPts val="1000"/>
              </a:spcAft>
              <a:defRPr sz="1500" b="0" i="0">
                <a:solidFill>
                  <a:srgbClr val="8C2D2D"/>
                </a:solidFill>
                <a:latin typeface="Calibri"/>
              </a:defRPr>
            </a:pPr>
            <a:r>
              <a:t>random unrelated concepts  vs  graph siblings (e.g. ManipulativeCommunication, Misdirection's nearest confuser).</a:t>
            </a:r>
          </a:p>
        </p:txBody>
      </p:sp>
    </p:spTree>
    <p:extLst>
      <p:ext uri="{BB962C8B-B14F-4D97-AF65-F5344CB8AC3E}">
        <p14:creationId xmlns:p14="http://schemas.microsoft.com/office/powerpoint/2010/main" val="19824140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749E0B92-0280-CCD6-C307-4571B30082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9D51169-C03F-5593-BCA3-E70C8C4CB176}"/>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Iterations 1–2: a powered, pre-registered null</a:t>
            </a:r>
          </a:p>
        </p:txBody>
      </p:sp>
      <p:pic>
        <p:nvPicPr>
          <p:cNvPr id="2" name="Picture 1" descr="slide4_timeline.png"/>
          <p:cNvPicPr>
            <a:picLocks noChangeAspect="1"/>
          </p:cNvPicPr>
          <p:nvPr/>
        </p:nvPicPr>
        <p:blipFill>
          <a:blip r:embed="rId3"/>
          <a:stretch>
            <a:fillRect/>
          </a:stretch>
        </p:blipFill>
        <p:spPr>
          <a:xfrm>
            <a:off x="457199" y="1373632"/>
            <a:ext cx="10881360" cy="4110736"/>
          </a:xfrm>
          <a:prstGeom prst="rect">
            <a:avLst/>
          </a:prstGeom>
        </p:spPr>
      </p:pic>
    </p:spTree>
    <p:extLst>
      <p:ext uri="{BB962C8B-B14F-4D97-AF65-F5344CB8AC3E}">
        <p14:creationId xmlns:p14="http://schemas.microsoft.com/office/powerpoint/2010/main" val="390700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F4CB5D11-2463-FB99-C247-8255C897026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8D2EF50-A6E9-AA53-9C91-90FB9DC716B1}"/>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 3: relations as hard negatives</a:t>
            </a:r>
          </a:p>
        </p:txBody>
      </p:sp>
      <p:graphicFrame>
        <p:nvGraphicFramePr>
          <p:cNvPr id="4" name="Table 3"/>
          <p:cNvGraphicFramePr>
            <a:graphicFrameLocks noGrp="1"/>
          </p:cNvGraphicFramePr>
          <p:nvPr>
            <p:extLst>
              <p:ext uri="{D42A27DB-BD31-4B8C-83A1-F6EECF244321}">
                <p14:modId xmlns:p14="http://schemas.microsoft.com/office/powerpoint/2010/main" val="3557797038"/>
              </p:ext>
            </p:extLst>
          </p:nvPr>
        </p:nvGraphicFramePr>
        <p:xfrm>
          <a:off x="640080" y="1423909"/>
          <a:ext cx="7589520" cy="21031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2214880">
                  <a:extLst>
                    <a:ext uri="{9D8B030D-6E8A-4147-A177-3AD203B41FA5}">
                      <a16:colId xmlns:a16="http://schemas.microsoft.com/office/drawing/2014/main" val="20001"/>
                    </a:ext>
                  </a:extLst>
                </a:gridCol>
                <a:gridCol w="2082800">
                  <a:extLst>
                    <a:ext uri="{9D8B030D-6E8A-4147-A177-3AD203B41FA5}">
                      <a16:colId xmlns:a16="http://schemas.microsoft.com/office/drawing/2014/main" val="20002"/>
                    </a:ext>
                  </a:extLst>
                </a:gridCol>
              </a:tblGrid>
              <a:tr h="525780">
                <a:tc>
                  <a:txBody>
                    <a:bodyPr/>
                    <a:lstStyle/>
                    <a:p>
                      <a:pPr>
                        <a:defRPr sz="1400" b="1">
                          <a:solidFill>
                            <a:srgbClr val="FFFFFF"/>
                          </a:solidFill>
                          <a:latin typeface="Calibri"/>
                        </a:defRPr>
                      </a:pPr>
                      <a:r>
                        <a:rPr dirty="0"/>
                        <a:t>ΔF1 vs random negatives</a:t>
                      </a:r>
                    </a:p>
                  </a:txBody>
                  <a:tcPr>
                    <a:solidFill>
                      <a:srgbClr val="3A6351"/>
                    </a:solidFill>
                  </a:tcPr>
                </a:tc>
                <a:tc>
                  <a:txBody>
                    <a:bodyPr/>
                    <a:lstStyle/>
                    <a:p>
                      <a:pPr>
                        <a:defRPr sz="1400" b="1">
                          <a:solidFill>
                            <a:srgbClr val="FFFFFF"/>
                          </a:solidFill>
                          <a:latin typeface="Calibri"/>
                        </a:defRPr>
                      </a:pPr>
                      <a:r>
                        <a:rPr lang="en-AU" dirty="0"/>
                        <a:t>Gemma-4-</a:t>
                      </a:r>
                      <a:r>
                        <a:rPr dirty="0"/>
                        <a:t>E4B </a:t>
                      </a:r>
                      <a:br>
                        <a:rPr lang="en-AU" dirty="0"/>
                      </a:br>
                      <a:r>
                        <a:rPr dirty="0"/>
                        <a:t>(peer replication)</a:t>
                      </a:r>
                    </a:p>
                  </a:txBody>
                  <a:tcPr>
                    <a:solidFill>
                      <a:srgbClr val="3A6351"/>
                    </a:solidFill>
                  </a:tcPr>
                </a:tc>
                <a:tc>
                  <a:txBody>
                    <a:bodyPr/>
                    <a:lstStyle/>
                    <a:p>
                      <a:pPr>
                        <a:defRPr sz="1400" b="1">
                          <a:solidFill>
                            <a:srgbClr val="FFFFFF"/>
                          </a:solidFill>
                          <a:latin typeface="Calibri"/>
                        </a:defRPr>
                      </a:pPr>
                      <a:r>
                        <a:rPr dirty="0"/>
                        <a:t>Gemma-2-9B </a:t>
                      </a:r>
                      <a:br>
                        <a:rPr lang="en-AU" dirty="0"/>
                      </a:br>
                      <a:r>
                        <a:rPr dirty="0"/>
                        <a:t>(this work)</a:t>
                      </a:r>
                    </a:p>
                  </a:txBody>
                  <a:tcPr>
                    <a:solidFill>
                      <a:srgbClr val="3A6351"/>
                    </a:solidFill>
                  </a:tcPr>
                </a:tc>
                <a:extLst>
                  <a:ext uri="{0D108BD9-81ED-4DB2-BD59-A6C34878D82A}">
                    <a16:rowId xmlns:a16="http://schemas.microsoft.com/office/drawing/2014/main" val="10000"/>
                  </a:ext>
                </a:extLst>
              </a:tr>
              <a:tr h="525780">
                <a:tc>
                  <a:txBody>
                    <a:bodyPr/>
                    <a:lstStyle/>
                    <a:p>
                      <a:pPr>
                        <a:defRPr sz="1400" b="0">
                          <a:latin typeface="Calibri"/>
                        </a:defRPr>
                      </a:pPr>
                      <a:r>
                        <a:t>direct-neighbour negatives</a:t>
                      </a:r>
                    </a:p>
                  </a:txBody>
                  <a:tcPr/>
                </a:tc>
                <a:tc>
                  <a:txBody>
                    <a:bodyPr/>
                    <a:lstStyle/>
                    <a:p>
                      <a:pPr>
                        <a:defRPr sz="1400" b="0">
                          <a:latin typeface="Calibri"/>
                        </a:defRPr>
                      </a:pPr>
                      <a:r>
                        <a:t>+0.057</a:t>
                      </a:r>
                    </a:p>
                  </a:txBody>
                  <a:tcPr/>
                </a:tc>
                <a:tc>
                  <a:txBody>
                    <a:bodyPr/>
                    <a:lstStyle/>
                    <a:p>
                      <a:pPr>
                        <a:defRPr sz="1400" b="0">
                          <a:latin typeface="Calibri"/>
                        </a:defRPr>
                      </a:pPr>
                      <a:r>
                        <a:t>+0.059</a:t>
                      </a:r>
                    </a:p>
                  </a:txBody>
                  <a:tcPr/>
                </a:tc>
                <a:extLst>
                  <a:ext uri="{0D108BD9-81ED-4DB2-BD59-A6C34878D82A}">
                    <a16:rowId xmlns:a16="http://schemas.microsoft.com/office/drawing/2014/main" val="10001"/>
                  </a:ext>
                </a:extLst>
              </a:tr>
              <a:tr h="525780">
                <a:tc>
                  <a:txBody>
                    <a:bodyPr/>
                    <a:lstStyle/>
                    <a:p>
                      <a:pPr>
                        <a:defRPr sz="1400" b="0">
                          <a:latin typeface="Calibri"/>
                        </a:defRPr>
                      </a:pPr>
                      <a:r>
                        <a:t>graph-aware mixed</a:t>
                      </a:r>
                    </a:p>
                  </a:txBody>
                  <a:tcPr/>
                </a:tc>
                <a:tc>
                  <a:txBody>
                    <a:bodyPr/>
                    <a:lstStyle/>
                    <a:p>
                      <a:pPr>
                        <a:defRPr sz="1400" b="0">
                          <a:latin typeface="Calibri"/>
                        </a:defRPr>
                      </a:pPr>
                      <a:r>
                        <a:t>+0.043</a:t>
                      </a:r>
                    </a:p>
                  </a:txBody>
                  <a:tcPr/>
                </a:tc>
                <a:tc>
                  <a:txBody>
                    <a:bodyPr/>
                    <a:lstStyle/>
                    <a:p>
                      <a:pPr>
                        <a:defRPr sz="1400" b="0">
                          <a:latin typeface="Calibri"/>
                        </a:defRPr>
                      </a:pPr>
                      <a:r>
                        <a:t>+0.039</a:t>
                      </a:r>
                    </a:p>
                  </a:txBody>
                  <a:tcPr/>
                </a:tc>
                <a:extLst>
                  <a:ext uri="{0D108BD9-81ED-4DB2-BD59-A6C34878D82A}">
                    <a16:rowId xmlns:a16="http://schemas.microsoft.com/office/drawing/2014/main" val="10002"/>
                  </a:ext>
                </a:extLst>
              </a:tr>
              <a:tr h="525780">
                <a:tc>
                  <a:txBody>
                    <a:bodyPr/>
                    <a:lstStyle/>
                    <a:p>
                      <a:pPr>
                        <a:defRPr sz="1400" b="0">
                          <a:latin typeface="Calibri"/>
                        </a:defRPr>
                      </a:pPr>
                      <a:r>
                        <a:t>held-out-edge (connectivity)</a:t>
                      </a:r>
                    </a:p>
                  </a:txBody>
                  <a:tcPr/>
                </a:tc>
                <a:tc>
                  <a:txBody>
                    <a:bodyPr/>
                    <a:lstStyle/>
                    <a:p>
                      <a:pPr>
                        <a:defRPr sz="1400" b="0">
                          <a:latin typeface="Calibri"/>
                        </a:defRPr>
                      </a:pPr>
                      <a:r>
                        <a:rPr dirty="0"/>
                        <a:t>+0.008</a:t>
                      </a:r>
                    </a:p>
                  </a:txBody>
                  <a:tcPr/>
                </a:tc>
                <a:tc>
                  <a:txBody>
                    <a:bodyPr/>
                    <a:lstStyle/>
                    <a:p>
                      <a:pPr>
                        <a:defRPr sz="1400" b="0">
                          <a:latin typeface="Calibri"/>
                        </a:defRPr>
                      </a:pPr>
                      <a:r>
                        <a:rPr dirty="0"/>
                        <a:t>+0.012</a:t>
                      </a:r>
                    </a:p>
                  </a:txBody>
                  <a:tcP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4AA6ACD8-7638-ED9D-5301-89C85427FB62}"/>
              </a:ext>
            </a:extLst>
          </p:cNvPr>
          <p:cNvSpPr txBox="1"/>
          <p:nvPr/>
        </p:nvSpPr>
        <p:spPr>
          <a:xfrm>
            <a:off x="640079" y="4194562"/>
            <a:ext cx="9528387" cy="1102866"/>
          </a:xfrm>
          <a:prstGeom prst="rect">
            <a:avLst/>
          </a:prstGeom>
          <a:noFill/>
        </p:spPr>
        <p:txBody>
          <a:bodyPr wrap="square">
            <a:spAutoFit/>
          </a:bodyPr>
          <a:lstStyle/>
          <a:p>
            <a:pPr>
              <a:spcAft>
                <a:spcPts val="1000"/>
              </a:spcAft>
              <a:defRPr sz="1700" b="1" i="0">
                <a:solidFill>
                  <a:srgbClr val="2B2B28"/>
                </a:solidFill>
                <a:latin typeface="Calibri"/>
              </a:defRPr>
            </a:pPr>
            <a:r>
              <a:rPr lang="en-US" dirty="0"/>
              <a:t>Mechanism: contrast, not coverage — each probe is trained against its graph siblings as negatives.</a:t>
            </a:r>
          </a:p>
          <a:p>
            <a:pPr>
              <a:spcAft>
                <a:spcPts val="1000"/>
              </a:spcAft>
              <a:defRPr sz="1600" b="0" i="0">
                <a:solidFill>
                  <a:srgbClr val="2B2B28"/>
                </a:solidFill>
                <a:latin typeface="Calibri"/>
              </a:defRPr>
            </a:pPr>
            <a:r>
              <a:rPr lang="en-US" dirty="0"/>
              <a:t>Replicated across two models and two codebases.</a:t>
            </a:r>
          </a:p>
          <a:p>
            <a:pPr>
              <a:spcAft>
                <a:spcPts val="1000"/>
              </a:spcAft>
              <a:defRPr sz="1600" b="0" i="0">
                <a:solidFill>
                  <a:srgbClr val="8C2D2D"/>
                </a:solidFill>
                <a:latin typeface="Calibri"/>
              </a:defRPr>
            </a:pPr>
            <a:r>
              <a:rPr lang="en-US" dirty="0"/>
              <a:t>Bounds: ~⅓ lexical; the benefit is confined to DIRECT adjacency.</a:t>
            </a:r>
          </a:p>
        </p:txBody>
      </p:sp>
      <p:sp>
        <p:nvSpPr>
          <p:cNvPr id="10" name="TextBox 9">
            <a:extLst>
              <a:ext uri="{FF2B5EF4-FFF2-40B4-BE49-F238E27FC236}">
                <a16:creationId xmlns:a16="http://schemas.microsoft.com/office/drawing/2014/main" id="{12D964C0-8EAC-D129-5E74-1541F69EF46C}"/>
              </a:ext>
            </a:extLst>
          </p:cNvPr>
          <p:cNvSpPr txBox="1"/>
          <p:nvPr/>
        </p:nvSpPr>
        <p:spPr>
          <a:xfrm>
            <a:off x="8635999" y="1423909"/>
            <a:ext cx="3488267" cy="1502976"/>
          </a:xfrm>
          <a:prstGeom prst="rect">
            <a:avLst/>
          </a:prstGeom>
          <a:noFill/>
        </p:spPr>
        <p:txBody>
          <a:bodyPr wrap="square">
            <a:spAutoFit/>
          </a:bodyPr>
          <a:lstStyle/>
          <a:p>
            <a:pPr>
              <a:spcAft>
                <a:spcPts val="1000"/>
              </a:spcAft>
              <a:defRPr sz="1500" b="1" i="0">
                <a:solidFill>
                  <a:srgbClr val="2B2B28"/>
                </a:solidFill>
                <a:latin typeface="Calibri"/>
              </a:defRPr>
            </a:pPr>
            <a:r>
              <a:rPr lang="en-US" dirty="0"/>
              <a:t>Path-2 controls (Gemma-2-9B):</a:t>
            </a:r>
          </a:p>
          <a:p>
            <a:pPr>
              <a:spcAft>
                <a:spcPts val="1000"/>
              </a:spcAft>
              <a:defRPr sz="1500" b="0" i="0">
                <a:solidFill>
                  <a:srgbClr val="2B2B28"/>
                </a:solidFill>
                <a:latin typeface="Calibri"/>
              </a:defRPr>
            </a:pPr>
            <a:r>
              <a:rPr lang="en-US" dirty="0"/>
              <a:t>curated graph beats placebo permutations, p = 0.002</a:t>
            </a:r>
          </a:p>
          <a:p>
            <a:pPr>
              <a:spcAft>
                <a:spcPts val="1000"/>
              </a:spcAft>
              <a:defRPr sz="1500" b="0" i="0">
                <a:solidFill>
                  <a:srgbClr val="2B2B28"/>
                </a:solidFill>
                <a:latin typeface="Calibri"/>
              </a:defRPr>
            </a:pPr>
            <a:r>
              <a:rPr lang="en-US" dirty="0"/>
              <a:t>~⅓ of the effect is shared vocabulary (upper bound)</a:t>
            </a:r>
          </a:p>
        </p:txBody>
      </p:sp>
    </p:spTree>
    <p:extLst>
      <p:ext uri="{BB962C8B-B14F-4D97-AF65-F5344CB8AC3E}">
        <p14:creationId xmlns:p14="http://schemas.microsoft.com/office/powerpoint/2010/main" val="3495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11D8F8AA-D733-18B0-C135-F4D69D479231}"/>
            </a:ext>
          </a:extLst>
        </p:cNvPr>
        <p:cNvGrpSpPr/>
        <p:nvPr/>
      </p:nvGrpSpPr>
      <p:grpSpPr>
        <a:xfrm>
          <a:off x="0" y="0"/>
          <a:ext cx="0" cy="0"/>
          <a:chOff x="0" y="0"/>
          <a:chExt cx="0" cy="0"/>
        </a:xfrm>
      </p:grpSpPr>
      <p:pic>
        <p:nvPicPr>
          <p:cNvPr id="2" name="Picture 1" descr="fig5_sweep_with_e4b_overlay.png"/>
          <p:cNvPicPr>
            <a:picLocks noChangeAspect="1"/>
          </p:cNvPicPr>
          <p:nvPr/>
        </p:nvPicPr>
        <p:blipFill>
          <a:blip r:embed="rId3"/>
          <a:stretch>
            <a:fillRect/>
          </a:stretch>
        </p:blipFill>
        <p:spPr>
          <a:xfrm>
            <a:off x="457199" y="1234440"/>
            <a:ext cx="7863840" cy="4810820"/>
          </a:xfrm>
          <a:prstGeom prst="rect">
            <a:avLst/>
          </a:prstGeom>
        </p:spPr>
      </p:pic>
      <p:sp>
        <p:nvSpPr>
          <p:cNvPr id="7" name="TextBox 6">
            <a:extLst>
              <a:ext uri="{FF2B5EF4-FFF2-40B4-BE49-F238E27FC236}">
                <a16:creationId xmlns:a16="http://schemas.microsoft.com/office/drawing/2014/main" id="{EB03C865-0520-5982-28E4-B9504D2FDBC3}"/>
              </a:ext>
            </a:extLst>
          </p:cNvPr>
          <p:cNvSpPr txBox="1"/>
          <p:nvPr/>
        </p:nvSpPr>
        <p:spPr>
          <a:xfrm>
            <a:off x="457199" y="498415"/>
            <a:ext cx="10698481" cy="584775"/>
          </a:xfrm>
          <a:prstGeom prst="rect">
            <a:avLst/>
          </a:prstGeom>
          <a:noFill/>
        </p:spPr>
        <p:txBody>
          <a:bodyPr wrap="square">
            <a:spAutoFit/>
          </a:bodyPr>
          <a:lstStyle/>
          <a:p>
            <a:pPr>
              <a:defRPr sz="2600" b="1">
                <a:solidFill>
                  <a:srgbClr val="2B2B28"/>
                </a:solidFill>
                <a:latin typeface="Georgia"/>
              </a:defRPr>
            </a:pPr>
            <a:r>
              <a:rPr lang="en-US" sz="3200" dirty="0"/>
              <a:t>Iteration 4: does the connectivity benefit scale?</a:t>
            </a:r>
          </a:p>
        </p:txBody>
      </p:sp>
      <p:sp>
        <p:nvSpPr>
          <p:cNvPr id="5" name="TextBox 4">
            <a:extLst>
              <a:ext uri="{FF2B5EF4-FFF2-40B4-BE49-F238E27FC236}">
                <a16:creationId xmlns:a16="http://schemas.microsoft.com/office/drawing/2014/main" id="{7D3A240A-904D-B878-D476-73AEFCD3BE66}"/>
              </a:ext>
            </a:extLst>
          </p:cNvPr>
          <p:cNvSpPr txBox="1"/>
          <p:nvPr/>
        </p:nvSpPr>
        <p:spPr>
          <a:xfrm>
            <a:off x="8595360" y="1234440"/>
            <a:ext cx="3232573" cy="4062651"/>
          </a:xfrm>
          <a:prstGeom prst="rect">
            <a:avLst/>
          </a:prstGeom>
          <a:noFill/>
        </p:spPr>
        <p:txBody>
          <a:bodyPr wrap="square">
            <a:spAutoFit/>
          </a:bodyPr>
          <a:lstStyle/>
          <a:p>
            <a:pPr>
              <a:spcAft>
                <a:spcPts val="1000"/>
              </a:spcAft>
              <a:defRPr sz="1500" b="0" i="0">
                <a:solidFill>
                  <a:srgbClr val="2B2B28"/>
                </a:solidFill>
                <a:latin typeface="Calibri"/>
              </a:defRPr>
            </a:pPr>
            <a:r>
              <a:rPr lang="en-AU" dirty="0"/>
              <a:t>held-out-edge: graph-aware negatives EXCLUDING the evaluated sibling</a:t>
            </a:r>
          </a:p>
          <a:p>
            <a:pPr>
              <a:spcAft>
                <a:spcPts val="1000"/>
              </a:spcAft>
              <a:defRPr sz="1400" b="0" i="1">
                <a:solidFill>
                  <a:srgbClr val="6E6A62"/>
                </a:solidFill>
                <a:latin typeface="Calibri"/>
              </a:defRPr>
            </a:pPr>
            <a:r>
              <a:rPr lang="en-AU" dirty="0"/>
              <a:t>(the clean alternate-path / Menger test)</a:t>
            </a:r>
          </a:p>
          <a:p>
            <a:pPr>
              <a:spcAft>
                <a:spcPts val="1000"/>
              </a:spcAft>
              <a:defRPr sz="1600" b="1" i="0">
                <a:solidFill>
                  <a:srgbClr val="2B2B28"/>
                </a:solidFill>
                <a:latin typeface="Calibri"/>
              </a:defRPr>
            </a:pPr>
            <a:r>
              <a:rPr lang="en-AU" dirty="0"/>
              <a:t>Pre-registered 10× within-model scaling sweep:</a:t>
            </a:r>
          </a:p>
          <a:p>
            <a:pPr>
              <a:spcAft>
                <a:spcPts val="1000"/>
              </a:spcAft>
              <a:defRPr sz="1500" b="1" i="0">
                <a:solidFill>
                  <a:srgbClr val="2B2B28"/>
                </a:solidFill>
                <a:latin typeface="Calibri"/>
              </a:defRPr>
            </a:pPr>
            <a:r>
              <a:rPr lang="en-AU" dirty="0"/>
              <a:t>top volume +0.005, 95% CI </a:t>
            </a:r>
            <a:br>
              <a:rPr lang="en-AU" dirty="0"/>
            </a:br>
            <a:r>
              <a:rPr lang="en-AU" dirty="0"/>
              <a:t>[−0.005, +0.014] — spans zero</a:t>
            </a:r>
          </a:p>
          <a:p>
            <a:pPr>
              <a:spcAft>
                <a:spcPts val="1000"/>
              </a:spcAft>
              <a:defRPr sz="1500" b="0" i="0">
                <a:solidFill>
                  <a:srgbClr val="2B2B28"/>
                </a:solidFill>
                <a:latin typeface="Calibri"/>
              </a:defRPr>
            </a:pPr>
            <a:r>
              <a:rPr lang="en-AU" dirty="0"/>
              <a:t>minimum detectable effect 0.014; direct effect resolved at 3×</a:t>
            </a:r>
          </a:p>
          <a:p>
            <a:pPr>
              <a:spcAft>
                <a:spcPts val="1000"/>
              </a:spcAft>
              <a:defRPr sz="1600" b="1" i="0">
                <a:solidFill>
                  <a:srgbClr val="8C2D2D"/>
                </a:solidFill>
                <a:latin typeface="Calibri"/>
              </a:defRPr>
            </a:pPr>
            <a:r>
              <a:rPr lang="en-AU" dirty="0"/>
              <a:t>Result: pre-registered NULL — alternate-path prediction refuted at power</a:t>
            </a:r>
          </a:p>
          <a:p>
            <a:pPr>
              <a:spcAft>
                <a:spcPts val="1000"/>
              </a:spcAft>
              <a:defRPr sz="1200" b="0" i="1">
                <a:solidFill>
                  <a:srgbClr val="6E6A62"/>
                </a:solidFill>
                <a:latin typeface="Calibri"/>
              </a:defRPr>
            </a:pPr>
            <a:r>
              <a:rPr lang="en-AU" dirty="0"/>
              <a:t>E4B = peer-replication corroboration; headline trend is within-model (Gemma-2-9B)</a:t>
            </a:r>
          </a:p>
        </p:txBody>
      </p:sp>
    </p:spTree>
    <p:extLst>
      <p:ext uri="{BB962C8B-B14F-4D97-AF65-F5344CB8AC3E}">
        <p14:creationId xmlns:p14="http://schemas.microsoft.com/office/powerpoint/2010/main" val="1295462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6FA01AF0-9B1A-9549-BEF4-7A3FEF18CF63}"/>
            </a:ext>
          </a:extLst>
        </p:cNvPr>
        <p:cNvGrpSpPr/>
        <p:nvPr/>
      </p:nvGrpSpPr>
      <p:grpSpPr>
        <a:xfrm>
          <a:off x="0" y="0"/>
          <a:ext cx="0" cy="0"/>
          <a:chOff x="0" y="0"/>
          <a:chExt cx="0" cy="0"/>
        </a:xfrm>
      </p:grpSpPr>
      <p:pic>
        <p:nvPicPr>
          <p:cNvPr id="4" name="Picture 3" descr="slide7_cartoon.png"/>
          <p:cNvPicPr>
            <a:picLocks noChangeAspect="1"/>
          </p:cNvPicPr>
          <p:nvPr/>
        </p:nvPicPr>
        <p:blipFill>
          <a:blip r:embed="rId3"/>
          <a:stretch>
            <a:fillRect/>
          </a:stretch>
        </p:blipFill>
        <p:spPr>
          <a:xfrm>
            <a:off x="457199" y="1549396"/>
            <a:ext cx="9220201" cy="5122334"/>
          </a:xfrm>
          <a:prstGeom prst="rect">
            <a:avLst/>
          </a:prstGeom>
        </p:spPr>
      </p:pic>
      <p:sp>
        <p:nvSpPr>
          <p:cNvPr id="7" name="TextBox 6">
            <a:extLst>
              <a:ext uri="{FF2B5EF4-FFF2-40B4-BE49-F238E27FC236}">
                <a16:creationId xmlns:a16="http://schemas.microsoft.com/office/drawing/2014/main" id="{CB7942B2-7868-EE33-283F-223E483268F9}"/>
              </a:ext>
            </a:extLst>
          </p:cNvPr>
          <p:cNvSpPr txBox="1"/>
          <p:nvPr/>
        </p:nvSpPr>
        <p:spPr>
          <a:xfrm>
            <a:off x="457199" y="498415"/>
            <a:ext cx="11734801" cy="1015663"/>
          </a:xfrm>
          <a:prstGeom prst="rect">
            <a:avLst/>
          </a:prstGeom>
          <a:noFill/>
        </p:spPr>
        <p:txBody>
          <a:bodyPr wrap="square">
            <a:spAutoFit/>
          </a:bodyPr>
          <a:lstStyle/>
          <a:p>
            <a:pPr>
              <a:defRPr sz="2600" b="1">
                <a:solidFill>
                  <a:srgbClr val="2B2B28"/>
                </a:solidFill>
                <a:latin typeface="Georgia"/>
              </a:defRPr>
            </a:pPr>
            <a:r>
              <a:rPr lang="en-AU" sz="3200" dirty="0"/>
              <a:t>Mechanism: </a:t>
            </a:r>
            <a:r>
              <a:rPr lang="en-AU" sz="2800" dirty="0"/>
              <a:t>independent-constraint boundary coverage for concept “</a:t>
            </a:r>
            <a:r>
              <a:rPr lang="en-AU" sz="2800" dirty="0" err="1"/>
              <a:t>ManipulativeCommunication</a:t>
            </a:r>
            <a:r>
              <a:rPr lang="en-AU" sz="2800" dirty="0"/>
              <a:t>”</a:t>
            </a:r>
            <a:endParaRPr lang="en-AU" sz="3200" dirty="0"/>
          </a:p>
        </p:txBody>
      </p:sp>
    </p:spTree>
    <p:extLst>
      <p:ext uri="{BB962C8B-B14F-4D97-AF65-F5344CB8AC3E}">
        <p14:creationId xmlns:p14="http://schemas.microsoft.com/office/powerpoint/2010/main" val="5850337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19E8EF64-342A-2C7C-F69C-232961CF8EB4}"/>
            </a:ext>
          </a:extLst>
        </p:cNvPr>
        <p:cNvGrpSpPr/>
        <p:nvPr/>
      </p:nvGrpSpPr>
      <p:grpSpPr>
        <a:xfrm>
          <a:off x="0" y="0"/>
          <a:ext cx="0" cy="0"/>
          <a:chOff x="0" y="0"/>
          <a:chExt cx="0" cy="0"/>
        </a:xfrm>
      </p:grpSpPr>
      <p:pic>
        <p:nvPicPr>
          <p:cNvPr id="2" name="Picture 1" descr="slide9_anisotropy_formal.png"/>
          <p:cNvPicPr>
            <a:picLocks noChangeAspect="1"/>
          </p:cNvPicPr>
          <p:nvPr/>
        </p:nvPicPr>
        <p:blipFill>
          <a:blip r:embed="rId3"/>
          <a:stretch>
            <a:fillRect/>
          </a:stretch>
        </p:blipFill>
        <p:spPr>
          <a:xfrm>
            <a:off x="457199" y="1188720"/>
            <a:ext cx="10787302" cy="4746413"/>
          </a:xfrm>
          <a:prstGeom prst="rect">
            <a:avLst/>
          </a:prstGeom>
        </p:spPr>
      </p:pic>
      <p:sp>
        <p:nvSpPr>
          <p:cNvPr id="7" name="TextBox 6">
            <a:extLst>
              <a:ext uri="{FF2B5EF4-FFF2-40B4-BE49-F238E27FC236}">
                <a16:creationId xmlns:a16="http://schemas.microsoft.com/office/drawing/2014/main" id="{594F9A86-27CA-9977-D8C7-76C71ABF402E}"/>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US" sz="3200" dirty="0"/>
              <a:t>Geometry control: the anisotropy correction</a:t>
            </a:r>
          </a:p>
        </p:txBody>
      </p:sp>
    </p:spTree>
    <p:extLst>
      <p:ext uri="{BB962C8B-B14F-4D97-AF65-F5344CB8AC3E}">
        <p14:creationId xmlns:p14="http://schemas.microsoft.com/office/powerpoint/2010/main" val="11364401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CDAA3D09-AA6E-5937-679E-B3810723CAF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68E326-646C-C2C2-EB9A-32841EA9C331}"/>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US" sz="3200" dirty="0"/>
              <a:t>Deployment: rejection scaffolds and tiered negatives</a:t>
            </a:r>
          </a:p>
        </p:txBody>
      </p:sp>
      <p:graphicFrame>
        <p:nvGraphicFramePr>
          <p:cNvPr id="4" name="Table 3"/>
          <p:cNvGraphicFramePr>
            <a:graphicFrameLocks noGrp="1"/>
          </p:cNvGraphicFramePr>
          <p:nvPr>
            <p:extLst>
              <p:ext uri="{D42A27DB-BD31-4B8C-83A1-F6EECF244321}">
                <p14:modId xmlns:p14="http://schemas.microsoft.com/office/powerpoint/2010/main" val="3639448909"/>
              </p:ext>
            </p:extLst>
          </p:nvPr>
        </p:nvGraphicFramePr>
        <p:xfrm>
          <a:off x="640080" y="1775161"/>
          <a:ext cx="8778240" cy="241069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482138">
                <a:tc>
                  <a:txBody>
                    <a:bodyPr/>
                    <a:lstStyle/>
                    <a:p>
                      <a:pPr>
                        <a:defRPr sz="1400" b="1">
                          <a:solidFill>
                            <a:srgbClr val="FFFFFF"/>
                          </a:solidFill>
                          <a:latin typeface="Calibri"/>
                        </a:defRPr>
                      </a:pPr>
                      <a:r>
                        <a:rPr sz="1300"/>
                        <a:t>FPR @ 95% TPR</a:t>
                      </a:r>
                    </a:p>
                  </a:txBody>
                  <a:tcPr marT="41564" marB="41564">
                    <a:solidFill>
                      <a:srgbClr val="3A6351"/>
                    </a:solidFill>
                  </a:tcPr>
                </a:tc>
                <a:tc>
                  <a:txBody>
                    <a:bodyPr/>
                    <a:lstStyle/>
                    <a:p>
                      <a:pPr>
                        <a:defRPr sz="1400" b="1">
                          <a:solidFill>
                            <a:srgbClr val="FFFFFF"/>
                          </a:solidFill>
                          <a:latin typeface="Calibri"/>
                        </a:defRPr>
                      </a:pPr>
                      <a:r>
                        <a:rPr sz="1300"/>
                        <a:t>neighbours</a:t>
                      </a:r>
                    </a:p>
                  </a:txBody>
                  <a:tcPr marT="41564" marB="41564">
                    <a:solidFill>
                      <a:srgbClr val="3A6351"/>
                    </a:solidFill>
                  </a:tcPr>
                </a:tc>
                <a:tc>
                  <a:txBody>
                    <a:bodyPr/>
                    <a:lstStyle/>
                    <a:p>
                      <a:pPr>
                        <a:defRPr sz="1400" b="1">
                          <a:solidFill>
                            <a:srgbClr val="FFFFFF"/>
                          </a:solidFill>
                          <a:latin typeface="Calibri"/>
                        </a:defRPr>
                      </a:pPr>
                      <a:r>
                        <a:rPr sz="1300"/>
                        <a:t>off-graph confusers</a:t>
                      </a:r>
                    </a:p>
                  </a:txBody>
                  <a:tcPr marT="41564" marB="41564">
                    <a:solidFill>
                      <a:srgbClr val="3A6351"/>
                    </a:solidFill>
                  </a:tcPr>
                </a:tc>
                <a:tc>
                  <a:txBody>
                    <a:bodyPr/>
                    <a:lstStyle/>
                    <a:p>
                      <a:pPr>
                        <a:defRPr sz="1400" b="1">
                          <a:solidFill>
                            <a:srgbClr val="FFFFFF"/>
                          </a:solidFill>
                          <a:latin typeface="Calibri"/>
                        </a:defRPr>
                      </a:pPr>
                      <a:r>
                        <a:rPr sz="1300"/>
                        <a:t>far-OOD</a:t>
                      </a:r>
                    </a:p>
                  </a:txBody>
                  <a:tcPr marT="41564" marB="41564">
                    <a:solidFill>
                      <a:srgbClr val="3A6351"/>
                    </a:solidFill>
                  </a:tcPr>
                </a:tc>
                <a:extLst>
                  <a:ext uri="{0D108BD9-81ED-4DB2-BD59-A6C34878D82A}">
                    <a16:rowId xmlns:a16="http://schemas.microsoft.com/office/drawing/2014/main" val="10000"/>
                  </a:ext>
                </a:extLst>
              </a:tr>
              <a:tr h="482138">
                <a:tc>
                  <a:txBody>
                    <a:bodyPr/>
                    <a:lstStyle/>
                    <a:p>
                      <a:pPr>
                        <a:defRPr sz="1400" b="0">
                          <a:latin typeface="Calibri"/>
                        </a:defRPr>
                      </a:pPr>
                      <a:r>
                        <a:rPr sz="1300"/>
                        <a:t>random</a:t>
                      </a:r>
                    </a:p>
                  </a:txBody>
                  <a:tcPr marT="41564" marB="41564"/>
                </a:tc>
                <a:tc>
                  <a:txBody>
                    <a:bodyPr/>
                    <a:lstStyle/>
                    <a:p>
                      <a:pPr>
                        <a:defRPr sz="1400" b="0">
                          <a:latin typeface="Calibri"/>
                        </a:defRPr>
                      </a:pPr>
                      <a:r>
                        <a:rPr sz="1300"/>
                        <a:t>0.19</a:t>
                      </a:r>
                    </a:p>
                  </a:txBody>
                  <a:tcPr marT="41564" marB="41564"/>
                </a:tc>
                <a:tc>
                  <a:txBody>
                    <a:bodyPr/>
                    <a:lstStyle/>
                    <a:p>
                      <a:pPr>
                        <a:defRPr sz="1400" b="0">
                          <a:latin typeface="Calibri"/>
                        </a:defRPr>
                      </a:pPr>
                      <a:r>
                        <a:rPr sz="1300"/>
                        <a:t>0.27</a:t>
                      </a:r>
                    </a:p>
                  </a:txBody>
                  <a:tcPr marT="41564" marB="41564"/>
                </a:tc>
                <a:tc>
                  <a:txBody>
                    <a:bodyPr/>
                    <a:lstStyle/>
                    <a:p>
                      <a:pPr>
                        <a:defRPr sz="1400" b="0">
                          <a:latin typeface="Calibri"/>
                        </a:defRPr>
                      </a:pPr>
                      <a:r>
                        <a:rPr sz="1300"/>
                        <a:t>0.18</a:t>
                      </a:r>
                    </a:p>
                  </a:txBody>
                  <a:tcPr marT="41564" marB="41564"/>
                </a:tc>
                <a:extLst>
                  <a:ext uri="{0D108BD9-81ED-4DB2-BD59-A6C34878D82A}">
                    <a16:rowId xmlns:a16="http://schemas.microsoft.com/office/drawing/2014/main" val="10001"/>
                  </a:ext>
                </a:extLst>
              </a:tr>
              <a:tr h="482138">
                <a:tc>
                  <a:txBody>
                    <a:bodyPr/>
                    <a:lstStyle/>
                    <a:p>
                      <a:pPr>
                        <a:defRPr sz="1400" b="0">
                          <a:latin typeface="Calibri"/>
                        </a:defRPr>
                      </a:pPr>
                      <a:r>
                        <a:rPr sz="1300"/>
                        <a:t>graph siblings (cheap)</a:t>
                      </a:r>
                    </a:p>
                  </a:txBody>
                  <a:tcPr marT="41564" marB="41564"/>
                </a:tc>
                <a:tc>
                  <a:txBody>
                    <a:bodyPr/>
                    <a:lstStyle/>
                    <a:p>
                      <a:pPr>
                        <a:defRPr sz="1400" b="0">
                          <a:latin typeface="Calibri"/>
                        </a:defRPr>
                      </a:pPr>
                      <a:r>
                        <a:rPr sz="1300" dirty="0"/>
                        <a:t>0.05</a:t>
                      </a:r>
                    </a:p>
                  </a:txBody>
                  <a:tcPr marT="41564" marB="41564"/>
                </a:tc>
                <a:tc>
                  <a:txBody>
                    <a:bodyPr/>
                    <a:lstStyle/>
                    <a:p>
                      <a:pPr>
                        <a:defRPr sz="1400" b="0">
                          <a:latin typeface="Calibri"/>
                        </a:defRPr>
                      </a:pPr>
                      <a:r>
                        <a:rPr sz="1300"/>
                        <a:t>0.26</a:t>
                      </a:r>
                    </a:p>
                  </a:txBody>
                  <a:tcPr marT="41564" marB="41564"/>
                </a:tc>
                <a:tc>
                  <a:txBody>
                    <a:bodyPr/>
                    <a:lstStyle/>
                    <a:p>
                      <a:pPr>
                        <a:defRPr sz="1400" b="0">
                          <a:latin typeface="Calibri"/>
                        </a:defRPr>
                      </a:pPr>
                      <a:r>
                        <a:rPr sz="1300"/>
                        <a:t>0.19</a:t>
                      </a:r>
                    </a:p>
                  </a:txBody>
                  <a:tcPr marT="41564" marB="41564"/>
                </a:tc>
                <a:extLst>
                  <a:ext uri="{0D108BD9-81ED-4DB2-BD59-A6C34878D82A}">
                    <a16:rowId xmlns:a16="http://schemas.microsoft.com/office/drawing/2014/main" val="10002"/>
                  </a:ext>
                </a:extLst>
              </a:tr>
              <a:tr h="482138">
                <a:tc>
                  <a:txBody>
                    <a:bodyPr/>
                    <a:lstStyle/>
                    <a:p>
                      <a:pPr>
                        <a:defRPr sz="1400" b="0">
                          <a:latin typeface="Calibri"/>
                        </a:defRPr>
                      </a:pPr>
                      <a:r>
                        <a:rPr sz="1300"/>
                        <a:t>model-mined (expensive)</a:t>
                      </a:r>
                    </a:p>
                  </a:txBody>
                  <a:tcPr marT="41564" marB="41564"/>
                </a:tc>
                <a:tc>
                  <a:txBody>
                    <a:bodyPr/>
                    <a:lstStyle/>
                    <a:p>
                      <a:pPr>
                        <a:defRPr sz="1400" b="0">
                          <a:latin typeface="Calibri"/>
                        </a:defRPr>
                      </a:pPr>
                      <a:r>
                        <a:rPr sz="1300"/>
                        <a:t>0.16</a:t>
                      </a:r>
                    </a:p>
                  </a:txBody>
                  <a:tcPr marT="41564" marB="41564"/>
                </a:tc>
                <a:tc>
                  <a:txBody>
                    <a:bodyPr/>
                    <a:lstStyle/>
                    <a:p>
                      <a:pPr>
                        <a:defRPr sz="1400" b="0">
                          <a:latin typeface="Calibri"/>
                        </a:defRPr>
                      </a:pPr>
                      <a:r>
                        <a:rPr sz="1300"/>
                        <a:t>0.06</a:t>
                      </a:r>
                    </a:p>
                  </a:txBody>
                  <a:tcPr marT="41564" marB="41564"/>
                </a:tc>
                <a:tc>
                  <a:txBody>
                    <a:bodyPr/>
                    <a:lstStyle/>
                    <a:p>
                      <a:pPr>
                        <a:defRPr sz="1400" b="0">
                          <a:latin typeface="Calibri"/>
                        </a:defRPr>
                      </a:pPr>
                      <a:r>
                        <a:rPr sz="1300"/>
                        <a:t>0.24</a:t>
                      </a:r>
                    </a:p>
                  </a:txBody>
                  <a:tcPr marT="41564" marB="41564"/>
                </a:tc>
                <a:extLst>
                  <a:ext uri="{0D108BD9-81ED-4DB2-BD59-A6C34878D82A}">
                    <a16:rowId xmlns:a16="http://schemas.microsoft.com/office/drawing/2014/main" val="10003"/>
                  </a:ext>
                </a:extLst>
              </a:tr>
              <a:tr h="482138">
                <a:tc>
                  <a:txBody>
                    <a:bodyPr/>
                    <a:lstStyle/>
                    <a:p>
                      <a:pPr>
                        <a:defRPr sz="1400" b="0">
                          <a:latin typeface="Calibri"/>
                        </a:defRPr>
                      </a:pPr>
                      <a:r>
                        <a:rPr sz="1300"/>
                        <a:t>mined + cheap “other” tier</a:t>
                      </a:r>
                    </a:p>
                  </a:txBody>
                  <a:tcPr marT="41564" marB="41564"/>
                </a:tc>
                <a:tc>
                  <a:txBody>
                    <a:bodyPr/>
                    <a:lstStyle/>
                    <a:p>
                      <a:pPr>
                        <a:defRPr sz="1400" b="0">
                          <a:latin typeface="Calibri"/>
                        </a:defRPr>
                      </a:pPr>
                      <a:r>
                        <a:rPr sz="1300"/>
                        <a:t>0.15</a:t>
                      </a:r>
                    </a:p>
                  </a:txBody>
                  <a:tcPr marT="41564" marB="41564"/>
                </a:tc>
                <a:tc>
                  <a:txBody>
                    <a:bodyPr/>
                    <a:lstStyle/>
                    <a:p>
                      <a:pPr>
                        <a:defRPr sz="1400" b="0">
                          <a:latin typeface="Calibri"/>
                        </a:defRPr>
                      </a:pPr>
                      <a:r>
                        <a:rPr sz="1300"/>
                        <a:t>0.07</a:t>
                      </a:r>
                    </a:p>
                  </a:txBody>
                  <a:tcPr marT="41564" marB="41564"/>
                </a:tc>
                <a:tc>
                  <a:txBody>
                    <a:bodyPr/>
                    <a:lstStyle/>
                    <a:p>
                      <a:pPr>
                        <a:defRPr sz="1400" b="0">
                          <a:latin typeface="Calibri"/>
                        </a:defRPr>
                      </a:pPr>
                      <a:r>
                        <a:rPr sz="1300" dirty="0"/>
                        <a:t>0.00</a:t>
                      </a:r>
                    </a:p>
                  </a:txBody>
                  <a:tcPr marT="41564" marB="41564"/>
                </a:tc>
                <a:extLst>
                  <a:ext uri="{0D108BD9-81ED-4DB2-BD59-A6C34878D82A}">
                    <a16:rowId xmlns:a16="http://schemas.microsoft.com/office/drawing/2014/main" val="10004"/>
                  </a:ext>
                </a:extLst>
              </a:tr>
            </a:tbl>
          </a:graphicData>
        </a:graphic>
      </p:graphicFrame>
      <p:sp>
        <p:nvSpPr>
          <p:cNvPr id="6" name="TextBox 5">
            <a:extLst>
              <a:ext uri="{FF2B5EF4-FFF2-40B4-BE49-F238E27FC236}">
                <a16:creationId xmlns:a16="http://schemas.microsoft.com/office/drawing/2014/main" id="{FD8C1E26-BE49-BE7C-B4EF-DF15CB58D304}"/>
              </a:ext>
            </a:extLst>
          </p:cNvPr>
          <p:cNvSpPr txBox="1"/>
          <p:nvPr/>
        </p:nvSpPr>
        <p:spPr>
          <a:xfrm>
            <a:off x="640079" y="4672405"/>
            <a:ext cx="11340253" cy="946646"/>
          </a:xfrm>
          <a:prstGeom prst="rect">
            <a:avLst/>
          </a:prstGeom>
          <a:noFill/>
        </p:spPr>
        <p:txBody>
          <a:bodyPr wrap="square">
            <a:spAutoFit/>
          </a:bodyPr>
          <a:lstStyle/>
          <a:p>
            <a:pPr>
              <a:spcAft>
                <a:spcPts val="1000"/>
              </a:spcAft>
              <a:defRPr sz="1300" b="0" i="1">
                <a:solidFill>
                  <a:srgbClr val="6E6A62"/>
                </a:solidFill>
                <a:latin typeface="Calibri"/>
              </a:defRPr>
            </a:pPr>
            <a:r>
              <a:rPr lang="en-US" dirty="0"/>
              <a:t>FPR @ 95% TPR = false-positive rate at a 95%-true-positive operating point</a:t>
            </a:r>
          </a:p>
          <a:p>
            <a:pPr>
              <a:spcAft>
                <a:spcPts val="1000"/>
              </a:spcAft>
              <a:defRPr sz="1600" b="0" i="0">
                <a:solidFill>
                  <a:srgbClr val="2B2B28"/>
                </a:solidFill>
                <a:latin typeface="Calibri"/>
              </a:defRPr>
            </a:pPr>
            <a:r>
              <a:rPr lang="en-US" dirty="0"/>
              <a:t>A flat 15-way classifier has no rejection option; a coarse “other” class rejects out-of-family inputs at full recall.</a:t>
            </a:r>
          </a:p>
          <a:p>
            <a:pPr>
              <a:spcAft>
                <a:spcPts val="1000"/>
              </a:spcAft>
              <a:defRPr sz="1600" b="1" i="0">
                <a:solidFill>
                  <a:srgbClr val="2B2B28"/>
                </a:solidFill>
                <a:latin typeface="Calibri"/>
              </a:defRPr>
            </a:pPr>
            <a:r>
              <a:rPr lang="en-US" dirty="0"/>
              <a:t>Tiered recipe: inexpensive negatives throughout → audit the off-graph gap → mine only that gap (20-point FP reduction).</a:t>
            </a:r>
          </a:p>
        </p:txBody>
      </p:sp>
    </p:spTree>
    <p:extLst>
      <p:ext uri="{BB962C8B-B14F-4D97-AF65-F5344CB8AC3E}">
        <p14:creationId xmlns:p14="http://schemas.microsoft.com/office/powerpoint/2010/main" val="3622453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a:extLst>
            <a:ext uri="{FF2B5EF4-FFF2-40B4-BE49-F238E27FC236}">
              <a16:creationId xmlns:a16="http://schemas.microsoft.com/office/drawing/2014/main" id="{7C0FC1CC-D1F4-CA5F-7474-B3E76F005D1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D572D2-3CE5-CD66-42B8-3920E034CDE0}"/>
              </a:ext>
            </a:extLst>
          </p:cNvPr>
          <p:cNvSpPr txBox="1"/>
          <p:nvPr/>
        </p:nvSpPr>
        <p:spPr>
          <a:xfrm>
            <a:off x="457199" y="498415"/>
            <a:ext cx="11734801" cy="584775"/>
          </a:xfrm>
          <a:prstGeom prst="rect">
            <a:avLst/>
          </a:prstGeom>
          <a:noFill/>
        </p:spPr>
        <p:txBody>
          <a:bodyPr wrap="square">
            <a:spAutoFit/>
          </a:bodyPr>
          <a:lstStyle/>
          <a:p>
            <a:pPr>
              <a:defRPr sz="2600" b="1">
                <a:solidFill>
                  <a:srgbClr val="2B2B28"/>
                </a:solidFill>
                <a:latin typeface="Georgia"/>
              </a:defRPr>
            </a:pPr>
            <a:r>
              <a:rPr lang="en-AU" sz="3200" dirty="0"/>
              <a:t>Conclusions and future work</a:t>
            </a:r>
          </a:p>
        </p:txBody>
      </p:sp>
      <p:sp>
        <p:nvSpPr>
          <p:cNvPr id="3" name="TextBox 2">
            <a:extLst>
              <a:ext uri="{FF2B5EF4-FFF2-40B4-BE49-F238E27FC236}">
                <a16:creationId xmlns:a16="http://schemas.microsoft.com/office/drawing/2014/main" id="{FD015B0C-0851-1BD2-1CA5-5C05DAEE5368}"/>
              </a:ext>
            </a:extLst>
          </p:cNvPr>
          <p:cNvSpPr txBox="1"/>
          <p:nvPr/>
        </p:nvSpPr>
        <p:spPr>
          <a:xfrm>
            <a:off x="584198" y="2346652"/>
            <a:ext cx="10972801" cy="2164695"/>
          </a:xfrm>
          <a:prstGeom prst="rect">
            <a:avLst/>
          </a:prstGeom>
          <a:noFill/>
        </p:spPr>
        <p:txBody>
          <a:bodyPr wrap="square">
            <a:spAutoFit/>
          </a:bodyPr>
          <a:lstStyle/>
          <a:p>
            <a:pPr>
              <a:spcAft>
                <a:spcPts val="1000"/>
              </a:spcAft>
              <a:defRPr sz="1800" b="1" i="0">
                <a:solidFill>
                  <a:srgbClr val="2B2B28"/>
                </a:solidFill>
                <a:latin typeface="Calibri"/>
              </a:defRPr>
            </a:pPr>
            <a:r>
              <a:rPr lang="en-US" dirty="0"/>
              <a:t>Relational structure helps only as local hard-negative contrast (~0.06 F1, ~⅓ lexical, two models).</a:t>
            </a:r>
          </a:p>
          <a:p>
            <a:pPr>
              <a:spcAft>
                <a:spcPts val="1000"/>
              </a:spcAft>
              <a:defRPr sz="1800" b="1" i="0">
                <a:solidFill>
                  <a:srgbClr val="2B2B28"/>
                </a:solidFill>
                <a:latin typeface="Calibri"/>
              </a:defRPr>
            </a:pPr>
            <a:r>
              <a:rPr lang="en-US" dirty="0"/>
              <a:t>The graph's connectivity contributes no measurable benefit at any data volume tested.</a:t>
            </a:r>
          </a:p>
          <a:p>
            <a:pPr>
              <a:spcAft>
                <a:spcPts val="1000"/>
              </a:spcAft>
              <a:defRPr sz="1700" b="0" i="0">
                <a:solidFill>
                  <a:srgbClr val="2B2B28"/>
                </a:solidFill>
                <a:latin typeface="Calibri"/>
              </a:defRPr>
            </a:pPr>
            <a:r>
              <a:rPr lang="en-US" dirty="0"/>
              <a:t>Pre-registration and adversarial verification were each decisive — twice a raw signal was misleading.</a:t>
            </a:r>
          </a:p>
          <a:p>
            <a:pPr>
              <a:spcAft>
                <a:spcPts val="1000"/>
              </a:spcAft>
              <a:defRPr sz="1700" b="0" i="0">
                <a:solidFill>
                  <a:srgbClr val="8C2D2D"/>
                </a:solidFill>
                <a:latin typeface="Calibri"/>
              </a:defRPr>
            </a:pPr>
            <a:r>
              <a:rPr lang="en-US" dirty="0"/>
              <a:t>The relational structure is a map of where to extend coverage, not a classifier — the cartographic objective of </a:t>
            </a:r>
            <a:r>
              <a:rPr lang="en-US" dirty="0" err="1"/>
              <a:t>HatCat</a:t>
            </a:r>
            <a:r>
              <a:rPr lang="en-US" dirty="0"/>
              <a:t>.</a:t>
            </a:r>
          </a:p>
          <a:p>
            <a:pPr>
              <a:spcAft>
                <a:spcPts val="1000"/>
              </a:spcAft>
              <a:defRPr sz="800" b="0" i="0">
                <a:solidFill>
                  <a:srgbClr val="2B2B28"/>
                </a:solidFill>
                <a:latin typeface="Calibri"/>
              </a:defRPr>
            </a:pPr>
            <a:endParaRPr lang="en-US" dirty="0"/>
          </a:p>
          <a:p>
            <a:pPr>
              <a:spcAft>
                <a:spcPts val="1000"/>
              </a:spcAft>
              <a:defRPr sz="1500" b="0" i="0">
                <a:solidFill>
                  <a:srgbClr val="6E6A62"/>
                </a:solidFill>
                <a:latin typeface="Calibri"/>
              </a:defRPr>
            </a:pPr>
            <a:r>
              <a:rPr lang="en-US" dirty="0"/>
              <a:t>Future work: contrast-prompted generation · near-but-out-of-set rejection test · counting independent constraints.</a:t>
            </a:r>
          </a:p>
        </p:txBody>
      </p:sp>
    </p:spTree>
    <p:extLst>
      <p:ext uri="{BB962C8B-B14F-4D97-AF65-F5344CB8AC3E}">
        <p14:creationId xmlns:p14="http://schemas.microsoft.com/office/powerpoint/2010/main" val="20740762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2001</Words>
  <Application>Microsoft Office PowerPoint</Application>
  <PresentationFormat>Widescreen</PresentationFormat>
  <Paragraphs>103</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Jason Boudville</cp:lastModifiedBy>
  <cp:revision>5</cp:revision>
  <dcterms:created xsi:type="dcterms:W3CDTF">2013-01-27T09:14:16Z</dcterms:created>
  <dcterms:modified xsi:type="dcterms:W3CDTF">2026-06-12T22:31:59Z</dcterms:modified>
  <cp:category/>
</cp:coreProperties>
</file>