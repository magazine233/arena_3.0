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short version, so you know where we're headed. We took an idea that sounds obviously true, and we tested it hard enough to trust the answer — including the part of the answer that turned out to be no. (0:15)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Safety monitoring wants a detector for each behaviour we care about — a lens for manipulation, one for deception, one for sycophancy. But these concepts aren't strangers to each other. They overlap, they blur at the edges, they form a graph. So here's the idea we inherited — and someone later checked it on a second model. You lean on that graph. You train each lens against its relatives. And where two concepts are joined by lots of independent paths, you pin the boundary between them without ever showing the probe that boundary directly. It's the appealing kind of idea. Structure is free. Data isn't. (1:00)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Thirty seconds of setup, all of it the ARENA toolkit. Mean-pooled residual stream, logistic regression on top. The one choice that matters: we always test out of distribution — train the probe in three settings, test it in a fourth it's never seen. Skip that and surface vocabulary does all the work, every probe scores perfect, and you've measured nothing. (0:35)</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Iteration one looked positive. It was wrong. We pulled it apart and found noise, not signal — and worse, we'd asked the wrong question, feeding the probe more examples of each concept instead of teaching it the boundary. So we rebuilt it properly. Iteration two: a hundred and five matched pairs, powered, the decision rule locked before we looked. The answer came back a clean null — connectivity does not predict how much a probe improves. Because we'd pre-registered, there was nowhere to hide it and no reason to. Hold onto that null. Two slides from now it stops being a disappointment and becomes the point. (1:00)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we'd missed. The fix isn't more examples of a concept — it's the right negatives. Train manipulation's probe against its actual siblings, the concepts it keeps getting confused with, and discrimination jumps about six points of F1. And the graph earns its keep: shuffle the edges into a fake graph and the effect vanishes — p of nought-point-zero-zero-two — so these particular relationships are real, not just any old structure. Two honest caveats, because that's the job. About a third of the lift is shared vocabulary, not deep structure. And — this is the column on the right — all of it lives in direct neighbours. Same numbers, two models, two codebases, run independently. (1:15)</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clean test of connectivity, separated from mere adjacency. Train with all the graph's negatives except the very sibling you're being tested on. If the graph's deeper structure carries anything, those other relationships should reconstruct the boundary you held back. They don't — about a hundredth of a point. And the obvious comeback is 'you just didn't have enough data.' So we settled it. We bought ten times the data, pre-registered, one model start to finish. The line didn't move. At the top volume it's five-thousandths of a point, with a confidence interval sitting squarely across zero — say just that. And before anyone asks whether we had the power to see an effect: the design could catch one of fourteen-thousandths, and it picks up the direct effect — three times that — without breaking a sweat. The instrument works. The thing we were testing just isn't there. (1:15)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picture explains all of it. A probe's boundary is set by whichever negative sits closest to it. More examples of the concept — nothing; the centre's already sharp. A sibling negative — it leans right on the face you're testing, so it helps. And the held-out-edge stays at zero because in our graph the alternate routes run back through the same hub — manipulation — so those paths aren't independent. They're the same information wearing different hats. Menger counted paths. What a boundary actually needs is independent constraints.</a:t>
            </a:r>
          </a:p>
          <a:p/>
          <a:p>
            <a:r>
              <a:t>If time: the direct effect itself shrinks as data grows, +0.061 down to +0.040 — so smart negatives matter most exactly when data is scarce, which is where a long-tail safety concept lives. (0:35)</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pays off in something you can actually build. A flat fifteen-way probe has no 'none of these' — show it a passage about a dog and it'll still confidently call it manipulation. Add one cheap reject class and that problem's gone. After that, picking negatives is just budget. Graph siblings seal the neighbour face for nothing. A cheap 'other' tier seals the far-away stuff completely. But the graph gives you almost no protection against the model's real confusers — the ones it actually trips on — and only the expensive option, mining the model's own confusions, seals those: a twenty-point cut in false positives. So: cheap everywhere, find the gap, spend the expensive money only on the gap. (1:00)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I'll take from this. Iteration one's false positive would have made a great talk — and it would have been wrong. The discipline is the only reason I can stand here and trust these numbers: pre-register, try to kill your own positives, bound what you claim. And the relationships? They turned out not to be a way of telling concepts apart at all. They're a map — of where to look next. Thanks. Happy to take questions. (0:45)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103120"/>
            <a:ext cx="10698480" cy="1645920"/>
          </a:xfrm>
          <a:prstGeom prst="rect">
            <a:avLst/>
          </a:prstGeom>
          <a:noFill/>
        </p:spPr>
        <p:txBody>
          <a:bodyPr wrap="none">
            <a:spAutoFit/>
          </a:bodyPr>
          <a:lstStyle/>
          <a:p>
            <a:pPr>
              <a:defRPr sz="4000" b="1">
                <a:solidFill>
                  <a:srgbClr val="1A1A2E"/>
                </a:solidFill>
              </a:defRPr>
            </a:pPr>
            <a:r>
              <a:t>Does relational structure improve</a:t>
            </a:r>
          </a:p>
          <a:p>
            <a:pPr>
              <a:defRPr sz="4000" b="1">
                <a:solidFill>
                  <a:srgbClr val="1A1A2E"/>
                </a:solidFill>
              </a:defRPr>
            </a:pPr>
            <a:r>
              <a:t>safety-concept probes?</a:t>
            </a:r>
          </a:p>
        </p:txBody>
      </p:sp>
      <p:sp>
        <p:nvSpPr>
          <p:cNvPr id="3" name="TextBox 2"/>
          <p:cNvSpPr txBox="1"/>
          <p:nvPr/>
        </p:nvSpPr>
        <p:spPr>
          <a:xfrm>
            <a:off x="731520" y="4023360"/>
            <a:ext cx="10698480" cy="1280160"/>
          </a:xfrm>
          <a:prstGeom prst="rect">
            <a:avLst/>
          </a:prstGeom>
          <a:noFill/>
        </p:spPr>
        <p:txBody>
          <a:bodyPr wrap="none">
            <a:spAutoFit/>
          </a:bodyPr>
          <a:lstStyle/>
          <a:p>
            <a:pPr>
              <a:defRPr sz="2200">
                <a:solidFill>
                  <a:srgbClr val="666666"/>
                </a:solidFill>
              </a:defRPr>
            </a:pPr>
            <a:r>
              <a:t>Jason Boudville</a:t>
            </a:r>
          </a:p>
          <a:p>
            <a:pPr>
              <a:defRPr sz="1800" i="1">
                <a:solidFill>
                  <a:srgbClr val="C44E52"/>
                </a:solidFill>
              </a:defRPr>
            </a:pPr>
            <a:r>
              <a:t>Four iterations, two models, independently replicated — and a bounded answer.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0424160" cy="868680"/>
          </a:xfrm>
          <a:prstGeom prst="rect">
            <a:avLst/>
          </a:prstGeom>
          <a:noFill/>
        </p:spPr>
        <p:txBody>
          <a:bodyPr wrap="none">
            <a:spAutoFit/>
          </a:bodyPr>
          <a:lstStyle/>
          <a:p>
            <a:pPr>
              <a:defRPr sz="3000" b="1">
                <a:solidFill>
                  <a:srgbClr val="1A1A2E"/>
                </a:solidFill>
              </a:defRPr>
            </a:pPr>
            <a:r>
              <a:t>The question</a:t>
            </a:r>
          </a:p>
        </p:txBody>
      </p:sp>
      <p:sp>
        <p:nvSpPr>
          <p:cNvPr id="3" name="TextBox 2"/>
          <p:cNvSpPr txBox="1"/>
          <p:nvPr/>
        </p:nvSpPr>
        <p:spPr>
          <a:xfrm>
            <a:off x="10972800" y="274320"/>
            <a:ext cx="1005840" cy="365760"/>
          </a:xfrm>
          <a:prstGeom prst="rect">
            <a:avLst/>
          </a:prstGeom>
          <a:noFill/>
        </p:spPr>
        <p:txBody>
          <a:bodyPr wrap="none">
            <a:spAutoFit/>
          </a:bodyPr>
          <a:lstStyle/>
          <a:p>
            <a:pPr algn="r">
              <a:defRPr sz="1100">
                <a:solidFill>
                  <a:srgbClr val="666666"/>
                </a:solidFill>
              </a:defRPr>
            </a:pPr>
            <a:r>
              <a:t>1:00</a:t>
            </a:r>
          </a:p>
        </p:txBody>
      </p:sp>
      <p:pic>
        <p:nvPicPr>
          <p:cNvPr id="4" name="Picture 3" descr="slide2_graph.png"/>
          <p:cNvPicPr>
            <a:picLocks noChangeAspect="1"/>
          </p:cNvPicPr>
          <p:nvPr/>
        </p:nvPicPr>
        <p:blipFill>
          <a:blip r:embed="rId2"/>
          <a:stretch>
            <a:fillRect/>
          </a:stretch>
        </p:blipFill>
        <p:spPr>
          <a:xfrm>
            <a:off x="457200" y="1143000"/>
            <a:ext cx="7498079" cy="5165343"/>
          </a:xfrm>
          <a:prstGeom prst="rect">
            <a:avLst/>
          </a:prstGeom>
        </p:spPr>
      </p:pic>
      <p:sp>
        <p:nvSpPr>
          <p:cNvPr id="5" name="TextBox 4"/>
          <p:cNvSpPr txBox="1"/>
          <p:nvPr/>
        </p:nvSpPr>
        <p:spPr>
          <a:xfrm>
            <a:off x="8138160" y="1645920"/>
            <a:ext cx="3749039" cy="4114800"/>
          </a:xfrm>
          <a:prstGeom prst="rect">
            <a:avLst/>
          </a:prstGeom>
          <a:noFill/>
        </p:spPr>
        <p:txBody>
          <a:bodyPr wrap="square">
            <a:spAutoFit/>
          </a:bodyPr>
          <a:lstStyle/>
          <a:p>
            <a:pPr>
              <a:spcAft>
                <a:spcPts val="1000"/>
              </a:spcAft>
              <a:defRPr sz="1700" b="1" i="0">
                <a:solidFill>
                  <a:srgbClr val="1A1A2E"/>
                </a:solidFill>
              </a:defRPr>
            </a:pPr>
            <a:r>
              <a:t>The hypothesis:</a:t>
            </a:r>
          </a:p>
          <a:p>
            <a:pPr>
              <a:spcAft>
                <a:spcPts val="1000"/>
              </a:spcAft>
              <a:defRPr sz="1600" b="0" i="0">
                <a:solidFill>
                  <a:srgbClr val="1A1A2E"/>
                </a:solidFill>
              </a:defRPr>
            </a:pPr>
            <a:r>
              <a:t>Probes for related concepts should help each other —</a:t>
            </a:r>
          </a:p>
          <a:p>
            <a:pPr>
              <a:spcAft>
                <a:spcPts val="1000"/>
              </a:spcAft>
              <a:defRPr sz="1600" b="0" i="0">
                <a:solidFill>
                  <a:srgbClr val="1A1A2E"/>
                </a:solidFill>
              </a:defRPr>
            </a:pPr>
            <a:r>
              <a:t>and the benefit should scale with connectivity (alternate paths).</a:t>
            </a:r>
          </a:p>
          <a:p>
            <a:pPr>
              <a:spcAft>
                <a:spcPts val="1000"/>
              </a:spcAft>
              <a:defRPr sz="1500" b="0" i="1">
                <a:solidFill>
                  <a:srgbClr val="666666"/>
                </a:solidFill>
              </a:defRPr>
            </a:pPr>
            <a:r>
              <a:t>Like inferring a border from the neighbours' borders.</a:t>
            </a:r>
          </a:p>
          <a:p>
            <a:pPr>
              <a:spcAft>
                <a:spcPts val="1000"/>
              </a:spcAft>
              <a:defRPr sz="1600" b="1" i="0">
                <a:solidFill>
                  <a:srgbClr val="C44E52"/>
                </a:solidFill>
              </a:defRPr>
            </a:pPr>
            <a:r>
              <a:t>Graphs are cheap. Data is not.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0424160" cy="868680"/>
          </a:xfrm>
          <a:prstGeom prst="rect">
            <a:avLst/>
          </a:prstGeom>
          <a:noFill/>
        </p:spPr>
        <p:txBody>
          <a:bodyPr wrap="none">
            <a:spAutoFit/>
          </a:bodyPr>
          <a:lstStyle/>
          <a:p>
            <a:pPr>
              <a:defRPr sz="3000" b="1">
                <a:solidFill>
                  <a:srgbClr val="1A1A2E"/>
                </a:solidFill>
              </a:defRPr>
            </a:pPr>
            <a:r>
              <a:t>Setup in 30 seconds</a:t>
            </a:r>
          </a:p>
        </p:txBody>
      </p:sp>
      <p:sp>
        <p:nvSpPr>
          <p:cNvPr id="3" name="TextBox 2"/>
          <p:cNvSpPr txBox="1"/>
          <p:nvPr/>
        </p:nvSpPr>
        <p:spPr>
          <a:xfrm>
            <a:off x="10972800" y="274320"/>
            <a:ext cx="1005840" cy="365760"/>
          </a:xfrm>
          <a:prstGeom prst="rect">
            <a:avLst/>
          </a:prstGeom>
          <a:noFill/>
        </p:spPr>
        <p:txBody>
          <a:bodyPr wrap="none">
            <a:spAutoFit/>
          </a:bodyPr>
          <a:lstStyle/>
          <a:p>
            <a:pPr algn="r">
              <a:defRPr sz="1100">
                <a:solidFill>
                  <a:srgbClr val="666666"/>
                </a:solidFill>
              </a:defRPr>
            </a:pPr>
            <a:r>
              <a:t>0:35</a:t>
            </a:r>
          </a:p>
        </p:txBody>
      </p:sp>
      <p:pic>
        <p:nvPicPr>
          <p:cNvPr id="4" name="Picture 3" descr="fig1_conditions.png"/>
          <p:cNvPicPr>
            <a:picLocks noChangeAspect="1"/>
          </p:cNvPicPr>
          <p:nvPr/>
        </p:nvPicPr>
        <p:blipFill>
          <a:blip r:embed="rId2"/>
          <a:stretch>
            <a:fillRect/>
          </a:stretch>
        </p:blipFill>
        <p:spPr>
          <a:xfrm>
            <a:off x="457200" y="1188720"/>
            <a:ext cx="7223760" cy="3637067"/>
          </a:xfrm>
          <a:prstGeom prst="rect">
            <a:avLst/>
          </a:prstGeom>
        </p:spPr>
      </p:pic>
      <p:sp>
        <p:nvSpPr>
          <p:cNvPr id="5" name="TextBox 4"/>
          <p:cNvSpPr txBox="1"/>
          <p:nvPr/>
        </p:nvSpPr>
        <p:spPr>
          <a:xfrm>
            <a:off x="7863840" y="1554480"/>
            <a:ext cx="4023360" cy="4114800"/>
          </a:xfrm>
          <a:prstGeom prst="rect">
            <a:avLst/>
          </a:prstGeom>
          <a:noFill/>
        </p:spPr>
        <p:txBody>
          <a:bodyPr wrap="square">
            <a:spAutoFit/>
          </a:bodyPr>
          <a:lstStyle/>
          <a:p>
            <a:pPr>
              <a:spcAft>
                <a:spcPts val="1000"/>
              </a:spcAft>
              <a:defRPr sz="1600" b="0" i="0">
                <a:solidFill>
                  <a:srgbClr val="1A1A2E"/>
                </a:solidFill>
              </a:defRPr>
            </a:pPr>
            <a:r>
              <a:t>15 AI-safety concepts · 26-edge curated graph</a:t>
            </a:r>
          </a:p>
          <a:p>
            <a:pPr>
              <a:spcAft>
                <a:spcPts val="1000"/>
              </a:spcAft>
              <a:defRPr sz="1600" b="0" i="0">
                <a:solidFill>
                  <a:srgbClr val="1A1A2E"/>
                </a:solidFill>
              </a:defRPr>
            </a:pPr>
            <a:r>
              <a:t>Passages in 4 surface-distinct contexts</a:t>
            </a:r>
          </a:p>
          <a:p>
            <a:pPr>
              <a:spcAft>
                <a:spcPts val="1000"/>
              </a:spcAft>
              <a:defRPr sz="1600" b="1" i="0">
                <a:solidFill>
                  <a:srgbClr val="1A1A2E"/>
                </a:solidFill>
              </a:defRPr>
            </a:pPr>
            <a:r>
              <a:t>Train on 3 contexts, test on the held-out one (OOD)</a:t>
            </a:r>
          </a:p>
          <a:p>
            <a:pPr>
              <a:spcAft>
                <a:spcPts val="1000"/>
              </a:spcAft>
              <a:defRPr sz="1600" b="0" i="0">
                <a:solidFill>
                  <a:srgbClr val="1A1A2E"/>
                </a:solidFill>
              </a:defRPr>
            </a:pPr>
            <a:r>
              <a:t>Linear probes, layer-18 residual stream</a:t>
            </a:r>
          </a:p>
          <a:p>
            <a:pPr>
              <a:spcAft>
                <a:spcPts val="1000"/>
              </a:spcAft>
              <a:defRPr sz="1600" b="0" i="0">
                <a:solidFill>
                  <a:srgbClr val="1A1A2E"/>
                </a:solidFill>
              </a:defRPr>
            </a:pPr>
            <a:r>
              <a:t>Gemma-2-9B (+ independent E4B replication) · 30 seeds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0424160" cy="868680"/>
          </a:xfrm>
          <a:prstGeom prst="rect">
            <a:avLst/>
          </a:prstGeom>
          <a:noFill/>
        </p:spPr>
        <p:txBody>
          <a:bodyPr wrap="none">
            <a:spAutoFit/>
          </a:bodyPr>
          <a:lstStyle/>
          <a:p>
            <a:pPr>
              <a:defRPr sz="3000" b="1">
                <a:solidFill>
                  <a:srgbClr val="1A1A2E"/>
                </a:solidFill>
              </a:defRPr>
            </a:pPr>
            <a:r>
              <a:t>Act 1 — the honest null</a:t>
            </a:r>
          </a:p>
        </p:txBody>
      </p:sp>
      <p:sp>
        <p:nvSpPr>
          <p:cNvPr id="3" name="TextBox 2"/>
          <p:cNvSpPr txBox="1"/>
          <p:nvPr/>
        </p:nvSpPr>
        <p:spPr>
          <a:xfrm>
            <a:off x="10972800" y="274320"/>
            <a:ext cx="1005840" cy="365760"/>
          </a:xfrm>
          <a:prstGeom prst="rect">
            <a:avLst/>
          </a:prstGeom>
          <a:noFill/>
        </p:spPr>
        <p:txBody>
          <a:bodyPr wrap="none">
            <a:spAutoFit/>
          </a:bodyPr>
          <a:lstStyle/>
          <a:p>
            <a:pPr algn="r">
              <a:defRPr sz="1100">
                <a:solidFill>
                  <a:srgbClr val="666666"/>
                </a:solidFill>
              </a:defRPr>
            </a:pPr>
            <a:r>
              <a:t>1:00</a:t>
            </a:r>
          </a:p>
        </p:txBody>
      </p:sp>
      <p:pic>
        <p:nvPicPr>
          <p:cNvPr id="4" name="Picture 3" descr="slide4_timeline.png"/>
          <p:cNvPicPr>
            <a:picLocks noChangeAspect="1"/>
          </p:cNvPicPr>
          <p:nvPr/>
        </p:nvPicPr>
        <p:blipFill>
          <a:blip r:embed="rId2"/>
          <a:stretch>
            <a:fillRect/>
          </a:stretch>
        </p:blipFill>
        <p:spPr>
          <a:xfrm>
            <a:off x="640080" y="1463040"/>
            <a:ext cx="10881360" cy="4110736"/>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0424160" cy="868680"/>
          </a:xfrm>
          <a:prstGeom prst="rect">
            <a:avLst/>
          </a:prstGeom>
          <a:noFill/>
        </p:spPr>
        <p:txBody>
          <a:bodyPr wrap="none">
            <a:spAutoFit/>
          </a:bodyPr>
          <a:lstStyle/>
          <a:p>
            <a:pPr>
              <a:defRPr sz="3000" b="1">
                <a:solidFill>
                  <a:srgbClr val="1A1A2E"/>
                </a:solidFill>
              </a:defRPr>
            </a:pPr>
            <a:r>
              <a:t>Act 2 — the reframe that worked: relations as hard negatives</a:t>
            </a:r>
          </a:p>
        </p:txBody>
      </p:sp>
      <p:sp>
        <p:nvSpPr>
          <p:cNvPr id="3" name="TextBox 2"/>
          <p:cNvSpPr txBox="1"/>
          <p:nvPr/>
        </p:nvSpPr>
        <p:spPr>
          <a:xfrm>
            <a:off x="10972800" y="274320"/>
            <a:ext cx="1005840" cy="365760"/>
          </a:xfrm>
          <a:prstGeom prst="rect">
            <a:avLst/>
          </a:prstGeom>
          <a:noFill/>
        </p:spPr>
        <p:txBody>
          <a:bodyPr wrap="none">
            <a:spAutoFit/>
          </a:bodyPr>
          <a:lstStyle/>
          <a:p>
            <a:pPr algn="r">
              <a:defRPr sz="1100">
                <a:solidFill>
                  <a:srgbClr val="666666"/>
                </a:solidFill>
              </a:defRPr>
            </a:pPr>
            <a:r>
              <a:t>1:15</a:t>
            </a:r>
          </a:p>
        </p:txBody>
      </p:sp>
      <p:graphicFrame>
        <p:nvGraphicFramePr>
          <p:cNvPr id="4" name="Table 3"/>
          <p:cNvGraphicFramePr>
            <a:graphicFrameLocks noGrp="1"/>
          </p:cNvGraphicFramePr>
          <p:nvPr/>
        </p:nvGraphicFramePr>
        <p:xfrm>
          <a:off x="640080" y="1463040"/>
          <a:ext cx="7589520" cy="2103120"/>
        </p:xfrm>
        <a:graphic>
          <a:graphicData uri="http://schemas.openxmlformats.org/drawingml/2006/table">
            <a:tbl>
              <a:tblPr firstRow="1" bandRow="1">
                <a:tableStyleId>{5C22544A-7EE6-4342-B048-85BDC9FD1C3A}</a:tableStyleId>
              </a:tblPr>
              <a:tblGrid>
                <a:gridCol w="3291840"/>
                <a:gridCol w="2286000"/>
                <a:gridCol w="2011680"/>
              </a:tblGrid>
              <a:tr h="525780">
                <a:tc>
                  <a:txBody>
                    <a:bodyPr/>
                    <a:lstStyle/>
                    <a:p>
                      <a:pPr>
                        <a:defRPr sz="1400" b="1">
                          <a:solidFill>
                            <a:srgbClr val="FFFFFF"/>
                          </a:solidFill>
                        </a:defRPr>
                      </a:pPr>
                      <a:r>
                        <a:t>ΔF1 vs random negatives</a:t>
                      </a:r>
                    </a:p>
                  </a:txBody>
                  <a:tcPr>
                    <a:solidFill>
                      <a:srgbClr val="4C72B0"/>
                    </a:solidFill>
                  </a:tcPr>
                </a:tc>
                <a:tc>
                  <a:txBody>
                    <a:bodyPr/>
                    <a:lstStyle/>
                    <a:p>
                      <a:pPr>
                        <a:defRPr sz="1400" b="1">
                          <a:solidFill>
                            <a:srgbClr val="FFFFFF"/>
                          </a:solidFill>
                        </a:defRPr>
                      </a:pPr>
                      <a:r>
                        <a:t>E4B (peer replication)</a:t>
                      </a:r>
                    </a:p>
                  </a:txBody>
                  <a:tcPr>
                    <a:solidFill>
                      <a:srgbClr val="4C72B0"/>
                    </a:solidFill>
                  </a:tcPr>
                </a:tc>
                <a:tc>
                  <a:txBody>
                    <a:bodyPr/>
                    <a:lstStyle/>
                    <a:p>
                      <a:pPr>
                        <a:defRPr sz="1400" b="1">
                          <a:solidFill>
                            <a:srgbClr val="FFFFFF"/>
                          </a:solidFill>
                        </a:defRPr>
                      </a:pPr>
                      <a:r>
                        <a:t>Gemma-2-9B (this work)</a:t>
                      </a:r>
                    </a:p>
                  </a:txBody>
                  <a:tcPr>
                    <a:solidFill>
                      <a:srgbClr val="4C72B0"/>
                    </a:solidFill>
                  </a:tcPr>
                </a:tc>
              </a:tr>
              <a:tr h="525780">
                <a:tc>
                  <a:txBody>
                    <a:bodyPr/>
                    <a:lstStyle/>
                    <a:p>
                      <a:pPr>
                        <a:defRPr sz="1400" b="0"/>
                      </a:pPr>
                      <a:r>
                        <a:t>direct-neighbour negatives</a:t>
                      </a:r>
                    </a:p>
                  </a:txBody>
                  <a:tcPr/>
                </a:tc>
                <a:tc>
                  <a:txBody>
                    <a:bodyPr/>
                    <a:lstStyle/>
                    <a:p>
                      <a:pPr>
                        <a:defRPr sz="1400" b="0"/>
                      </a:pPr>
                      <a:r>
                        <a:t>+0.057</a:t>
                      </a:r>
                    </a:p>
                  </a:txBody>
                  <a:tcPr/>
                </a:tc>
                <a:tc>
                  <a:txBody>
                    <a:bodyPr/>
                    <a:lstStyle/>
                    <a:p>
                      <a:pPr>
                        <a:defRPr sz="1400" b="0"/>
                      </a:pPr>
                      <a:r>
                        <a:t>+0.059</a:t>
                      </a:r>
                    </a:p>
                  </a:txBody>
                  <a:tcPr/>
                </a:tc>
              </a:tr>
              <a:tr h="525780">
                <a:tc>
                  <a:txBody>
                    <a:bodyPr/>
                    <a:lstStyle/>
                    <a:p>
                      <a:pPr>
                        <a:defRPr sz="1400" b="0"/>
                      </a:pPr>
                      <a:r>
                        <a:t>graph-aware mixed</a:t>
                      </a:r>
                    </a:p>
                  </a:txBody>
                  <a:tcPr/>
                </a:tc>
                <a:tc>
                  <a:txBody>
                    <a:bodyPr/>
                    <a:lstStyle/>
                    <a:p>
                      <a:pPr>
                        <a:defRPr sz="1400" b="0"/>
                      </a:pPr>
                      <a:r>
                        <a:t>+0.043</a:t>
                      </a:r>
                    </a:p>
                  </a:txBody>
                  <a:tcPr/>
                </a:tc>
                <a:tc>
                  <a:txBody>
                    <a:bodyPr/>
                    <a:lstStyle/>
                    <a:p>
                      <a:pPr>
                        <a:defRPr sz="1400" b="0"/>
                      </a:pPr>
                      <a:r>
                        <a:t>+0.039</a:t>
                      </a:r>
                    </a:p>
                  </a:txBody>
                  <a:tcPr/>
                </a:tc>
              </a:tr>
              <a:tr h="525780">
                <a:tc>
                  <a:txBody>
                    <a:bodyPr/>
                    <a:lstStyle/>
                    <a:p>
                      <a:pPr>
                        <a:defRPr sz="1400" b="0"/>
                      </a:pPr>
                      <a:r>
                        <a:t>held-out-edge (connectivity)</a:t>
                      </a:r>
                    </a:p>
                  </a:txBody>
                  <a:tcPr/>
                </a:tc>
                <a:tc>
                  <a:txBody>
                    <a:bodyPr/>
                    <a:lstStyle/>
                    <a:p>
                      <a:pPr>
                        <a:defRPr sz="1400" b="0"/>
                      </a:pPr>
                      <a:r>
                        <a:t>+0.008</a:t>
                      </a:r>
                    </a:p>
                  </a:txBody>
                  <a:tcPr/>
                </a:tc>
                <a:tc>
                  <a:txBody>
                    <a:bodyPr/>
                    <a:lstStyle/>
                    <a:p>
                      <a:pPr>
                        <a:defRPr sz="1400" b="0"/>
                      </a:pPr>
                      <a:r>
                        <a:t>+0.012</a:t>
                      </a:r>
                    </a:p>
                  </a:txBody>
                  <a:tcPr/>
                </a:tc>
              </a:tr>
            </a:tbl>
          </a:graphicData>
        </a:graphic>
      </p:graphicFrame>
      <p:sp>
        <p:nvSpPr>
          <p:cNvPr id="5" name="TextBox 4"/>
          <p:cNvSpPr txBox="1"/>
          <p:nvPr/>
        </p:nvSpPr>
        <p:spPr>
          <a:xfrm>
            <a:off x="8503920" y="1554480"/>
            <a:ext cx="3291840" cy="2011680"/>
          </a:xfrm>
          <a:prstGeom prst="rect">
            <a:avLst/>
          </a:prstGeom>
          <a:noFill/>
        </p:spPr>
        <p:txBody>
          <a:bodyPr wrap="square">
            <a:spAutoFit/>
          </a:bodyPr>
          <a:lstStyle/>
          <a:p>
            <a:pPr>
              <a:spcAft>
                <a:spcPts val="1000"/>
              </a:spcAft>
              <a:defRPr sz="1500" b="1" i="0">
                <a:solidFill>
                  <a:srgbClr val="1A1A2E"/>
                </a:solidFill>
              </a:defRPr>
            </a:pPr>
            <a:r>
              <a:t>Path-2 controls (Gemma-2-9B):</a:t>
            </a:r>
          </a:p>
          <a:p>
            <a:pPr>
              <a:spcAft>
                <a:spcPts val="1000"/>
              </a:spcAft>
              <a:defRPr sz="1500" b="0" i="0">
                <a:solidFill>
                  <a:srgbClr val="1A1A2E"/>
                </a:solidFill>
              </a:defRPr>
            </a:pPr>
            <a:r>
              <a:t>declared graph beats shuffled placebo graphs, p = 0.002</a:t>
            </a:r>
          </a:p>
          <a:p>
            <a:pPr>
              <a:spcAft>
                <a:spcPts val="1000"/>
              </a:spcAft>
              <a:defRPr sz="1500" b="0" i="0">
                <a:solidFill>
                  <a:srgbClr val="1A1A2E"/>
                </a:solidFill>
              </a:defRPr>
            </a:pPr>
            <a:r>
              <a:t>~⅓ of the effect is shared vocabulary</a:t>
            </a:r>
          </a:p>
        </p:txBody>
      </p:sp>
      <p:sp>
        <p:nvSpPr>
          <p:cNvPr id="6" name="TextBox 5"/>
          <p:cNvSpPr txBox="1"/>
          <p:nvPr/>
        </p:nvSpPr>
        <p:spPr>
          <a:xfrm>
            <a:off x="640080" y="3931920"/>
            <a:ext cx="10972800" cy="2194560"/>
          </a:xfrm>
          <a:prstGeom prst="rect">
            <a:avLst/>
          </a:prstGeom>
          <a:noFill/>
        </p:spPr>
        <p:txBody>
          <a:bodyPr wrap="square">
            <a:spAutoFit/>
          </a:bodyPr>
          <a:lstStyle/>
          <a:p>
            <a:pPr>
              <a:spcAft>
                <a:spcPts val="1000"/>
              </a:spcAft>
              <a:defRPr sz="1700" b="1" i="0">
                <a:solidFill>
                  <a:srgbClr val="1A1A2E"/>
                </a:solidFill>
              </a:defRPr>
            </a:pPr>
            <a:r>
              <a:t>The mechanism is contrast, not coverage: train each concept's probe with its actual siblings as the negative class.</a:t>
            </a:r>
          </a:p>
          <a:p>
            <a:pPr>
              <a:spcAft>
                <a:spcPts val="1000"/>
              </a:spcAft>
              <a:defRPr sz="1600" b="0" i="0">
                <a:solidFill>
                  <a:srgbClr val="1A1A2E"/>
                </a:solidFill>
              </a:defRPr>
            </a:pPr>
            <a:r>
              <a:t>Robust: two models, two codebases, fully independent runs — same numbers.</a:t>
            </a:r>
          </a:p>
          <a:p>
            <a:pPr>
              <a:spcAft>
                <a:spcPts val="1000"/>
              </a:spcAft>
              <a:defRPr sz="1600" b="0" i="0">
                <a:solidFill>
                  <a:srgbClr val="C44E52"/>
                </a:solidFill>
              </a:defRPr>
            </a:pPr>
            <a:r>
              <a:t>Honest bounds: ~⅓ lexical, and the effect lives entirely in DIRECT adjacency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0424160" cy="868680"/>
          </a:xfrm>
          <a:prstGeom prst="rect">
            <a:avLst/>
          </a:prstGeom>
          <a:noFill/>
        </p:spPr>
        <p:txBody>
          <a:bodyPr wrap="none">
            <a:spAutoFit/>
          </a:bodyPr>
          <a:lstStyle/>
          <a:p>
            <a:pPr>
              <a:defRPr sz="3000" b="1">
                <a:solidFill>
                  <a:srgbClr val="1A1A2E"/>
                </a:solidFill>
              </a:defRPr>
            </a:pPr>
            <a:r>
              <a:t>Act 3 — connectivity isolated: the pre-registered NULL</a:t>
            </a:r>
          </a:p>
        </p:txBody>
      </p:sp>
      <p:sp>
        <p:nvSpPr>
          <p:cNvPr id="3" name="TextBox 2"/>
          <p:cNvSpPr txBox="1"/>
          <p:nvPr/>
        </p:nvSpPr>
        <p:spPr>
          <a:xfrm>
            <a:off x="10972800" y="274320"/>
            <a:ext cx="1005840" cy="365760"/>
          </a:xfrm>
          <a:prstGeom prst="rect">
            <a:avLst/>
          </a:prstGeom>
          <a:noFill/>
        </p:spPr>
        <p:txBody>
          <a:bodyPr wrap="none">
            <a:spAutoFit/>
          </a:bodyPr>
          <a:lstStyle/>
          <a:p>
            <a:pPr algn="r">
              <a:defRPr sz="1100">
                <a:solidFill>
                  <a:srgbClr val="666666"/>
                </a:solidFill>
              </a:defRPr>
            </a:pPr>
            <a:r>
              <a:t>1:15</a:t>
            </a:r>
          </a:p>
        </p:txBody>
      </p:sp>
      <p:pic>
        <p:nvPicPr>
          <p:cNvPr id="4" name="Picture 3" descr="fig5_sweep_with_e4b_overlay.png"/>
          <p:cNvPicPr>
            <a:picLocks noChangeAspect="1"/>
          </p:cNvPicPr>
          <p:nvPr/>
        </p:nvPicPr>
        <p:blipFill>
          <a:blip r:embed="rId2"/>
          <a:stretch>
            <a:fillRect/>
          </a:stretch>
        </p:blipFill>
        <p:spPr>
          <a:xfrm>
            <a:off x="731520" y="1234440"/>
            <a:ext cx="7863840" cy="4810820"/>
          </a:xfrm>
          <a:prstGeom prst="rect">
            <a:avLst/>
          </a:prstGeom>
        </p:spPr>
      </p:pic>
      <p:sp>
        <p:nvSpPr>
          <p:cNvPr id="5" name="TextBox 4"/>
          <p:cNvSpPr txBox="1"/>
          <p:nvPr/>
        </p:nvSpPr>
        <p:spPr>
          <a:xfrm>
            <a:off x="8686800" y="1554480"/>
            <a:ext cx="3200400" cy="4754880"/>
          </a:xfrm>
          <a:prstGeom prst="rect">
            <a:avLst/>
          </a:prstGeom>
          <a:noFill/>
        </p:spPr>
        <p:txBody>
          <a:bodyPr wrap="square">
            <a:spAutoFit/>
          </a:bodyPr>
          <a:lstStyle/>
          <a:p>
            <a:pPr>
              <a:spcAft>
                <a:spcPts val="1000"/>
              </a:spcAft>
              <a:defRPr sz="1500" b="0" i="0">
                <a:solidFill>
                  <a:srgbClr val="1A1A2E"/>
                </a:solidFill>
              </a:defRPr>
            </a:pPr>
            <a:r>
              <a:t>held-out-edge = train with all graph-aware negatives EXCEPT the tested sibling</a:t>
            </a:r>
          </a:p>
          <a:p>
            <a:pPr>
              <a:spcAft>
                <a:spcPts val="1000"/>
              </a:spcAft>
              <a:defRPr sz="1500" b="0" i="0">
                <a:solidFill>
                  <a:srgbClr val="1A1A2E"/>
                </a:solidFill>
              </a:defRPr>
            </a:pPr>
            <a:r>
              <a:t>If alternate paths carry signal, they should reconstruct the withheld boundary</a:t>
            </a:r>
          </a:p>
          <a:p>
            <a:pPr>
              <a:spcAft>
                <a:spcPts val="1000"/>
              </a:spcAft>
              <a:defRPr sz="1700" b="1" i="0">
                <a:solidFill>
                  <a:srgbClr val="C44E52"/>
                </a:solidFill>
              </a:defRPr>
            </a:pPr>
            <a:r>
              <a:t>They don't — at any volume:</a:t>
            </a:r>
          </a:p>
          <a:p>
            <a:pPr>
              <a:spcAft>
                <a:spcPts val="1000"/>
              </a:spcAft>
              <a:defRPr sz="1500" b="1" i="0">
                <a:solidFill>
                  <a:srgbClr val="1A1A2E"/>
                </a:solidFill>
              </a:defRPr>
            </a:pPr>
            <a:r>
              <a:t>10× sweep: top volume +0.005, 95% CI [−0.005, +0.014] — spans zero</a:t>
            </a:r>
          </a:p>
          <a:p>
            <a:pPr>
              <a:spcAft>
                <a:spcPts val="1000"/>
              </a:spcAft>
              <a:defRPr sz="1500" b="0" i="0">
                <a:solidFill>
                  <a:srgbClr val="1A1A2E"/>
                </a:solidFill>
              </a:defRPr>
            </a:pPr>
            <a:r>
              <a:t>Power shown: could detect 0.014; the direct effect is 3× that</a:t>
            </a:r>
          </a:p>
          <a:p>
            <a:pPr>
              <a:spcAft>
                <a:spcPts val="1000"/>
              </a:spcAft>
              <a:defRPr sz="1700" b="1" i="0">
                <a:solidFill>
                  <a:srgbClr val="C44E52"/>
                </a:solidFill>
              </a:defRPr>
            </a:pPr>
            <a:r>
              <a:t>VERDICT: pre-registered NULL</a:t>
            </a:r>
          </a:p>
          <a:p>
            <a:pPr>
              <a:spcAft>
                <a:spcPts val="1000"/>
              </a:spcAft>
              <a:defRPr sz="1200" b="0" i="1">
                <a:solidFill>
                  <a:srgbClr val="666666"/>
                </a:solidFill>
              </a:defRPr>
            </a:pPr>
            <a:r>
              <a:t>E4B points = peer-replication corroboration; headline trend is within-model (Gemma-2-9B)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0424160" cy="868680"/>
          </a:xfrm>
          <a:prstGeom prst="rect">
            <a:avLst/>
          </a:prstGeom>
          <a:noFill/>
        </p:spPr>
        <p:txBody>
          <a:bodyPr wrap="none">
            <a:spAutoFit/>
          </a:bodyPr>
          <a:lstStyle/>
          <a:p>
            <a:pPr>
              <a:defRPr sz="3000" b="1">
                <a:solidFill>
                  <a:srgbClr val="1A1A2E"/>
                </a:solidFill>
              </a:defRPr>
            </a:pPr>
            <a:r>
              <a:t>Why — the boundary-coverage picture</a:t>
            </a:r>
          </a:p>
        </p:txBody>
      </p:sp>
      <p:sp>
        <p:nvSpPr>
          <p:cNvPr id="3" name="TextBox 2"/>
          <p:cNvSpPr txBox="1"/>
          <p:nvPr/>
        </p:nvSpPr>
        <p:spPr>
          <a:xfrm>
            <a:off x="10972800" y="274320"/>
            <a:ext cx="1005840" cy="365760"/>
          </a:xfrm>
          <a:prstGeom prst="rect">
            <a:avLst/>
          </a:prstGeom>
          <a:noFill/>
        </p:spPr>
        <p:txBody>
          <a:bodyPr wrap="none">
            <a:spAutoFit/>
          </a:bodyPr>
          <a:lstStyle/>
          <a:p>
            <a:pPr algn="r">
              <a:defRPr sz="1100">
                <a:solidFill>
                  <a:srgbClr val="666666"/>
                </a:solidFill>
              </a:defRPr>
            </a:pPr>
            <a:r>
              <a:t>0:35</a:t>
            </a:r>
          </a:p>
        </p:txBody>
      </p:sp>
      <p:pic>
        <p:nvPicPr>
          <p:cNvPr id="4" name="Picture 3" descr="slide7_cartoon.png"/>
          <p:cNvPicPr>
            <a:picLocks noChangeAspect="1"/>
          </p:cNvPicPr>
          <p:nvPr/>
        </p:nvPicPr>
        <p:blipFill>
          <a:blip r:embed="rId2"/>
          <a:stretch>
            <a:fillRect/>
          </a:stretch>
        </p:blipFill>
        <p:spPr>
          <a:xfrm>
            <a:off x="1463040" y="1280160"/>
            <a:ext cx="9144000" cy="5080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0424160" cy="868680"/>
          </a:xfrm>
          <a:prstGeom prst="rect">
            <a:avLst/>
          </a:prstGeom>
          <a:noFill/>
        </p:spPr>
        <p:txBody>
          <a:bodyPr wrap="none">
            <a:spAutoFit/>
          </a:bodyPr>
          <a:lstStyle/>
          <a:p>
            <a:pPr>
              <a:defRPr sz="3000" b="1">
                <a:solidFill>
                  <a:srgbClr val="1A1A2E"/>
                </a:solidFill>
              </a:defRPr>
            </a:pPr>
            <a:r>
              <a:t>So what — you seal exactly the faces you train against</a:t>
            </a:r>
          </a:p>
        </p:txBody>
      </p:sp>
      <p:sp>
        <p:nvSpPr>
          <p:cNvPr id="3" name="TextBox 2"/>
          <p:cNvSpPr txBox="1"/>
          <p:nvPr/>
        </p:nvSpPr>
        <p:spPr>
          <a:xfrm>
            <a:off x="10972800" y="274320"/>
            <a:ext cx="1005840" cy="365760"/>
          </a:xfrm>
          <a:prstGeom prst="rect">
            <a:avLst/>
          </a:prstGeom>
          <a:noFill/>
        </p:spPr>
        <p:txBody>
          <a:bodyPr wrap="none">
            <a:spAutoFit/>
          </a:bodyPr>
          <a:lstStyle/>
          <a:p>
            <a:pPr algn="r">
              <a:defRPr sz="1100">
                <a:solidFill>
                  <a:srgbClr val="666666"/>
                </a:solidFill>
              </a:defRPr>
            </a:pPr>
            <a:r>
              <a:t>1:00</a:t>
            </a:r>
          </a:p>
        </p:txBody>
      </p:sp>
      <p:graphicFrame>
        <p:nvGraphicFramePr>
          <p:cNvPr id="4" name="Table 3"/>
          <p:cNvGraphicFramePr>
            <a:graphicFrameLocks noGrp="1"/>
          </p:cNvGraphicFramePr>
          <p:nvPr/>
        </p:nvGraphicFramePr>
        <p:xfrm>
          <a:off x="640080" y="1371600"/>
          <a:ext cx="8778240" cy="2651760"/>
        </p:xfrm>
        <a:graphic>
          <a:graphicData uri="http://schemas.openxmlformats.org/drawingml/2006/table">
            <a:tbl>
              <a:tblPr firstRow="1" bandRow="1">
                <a:tableStyleId>{5C22544A-7EE6-4342-B048-85BDC9FD1C3A}</a:tableStyleId>
              </a:tblPr>
              <a:tblGrid>
                <a:gridCol w="3291840"/>
                <a:gridCol w="1828800"/>
                <a:gridCol w="2194560"/>
                <a:gridCol w="1463040"/>
              </a:tblGrid>
              <a:tr h="530352">
                <a:tc>
                  <a:txBody>
                    <a:bodyPr/>
                    <a:lstStyle/>
                    <a:p>
                      <a:pPr>
                        <a:defRPr sz="1400" b="1">
                          <a:solidFill>
                            <a:srgbClr val="FFFFFF"/>
                          </a:solidFill>
                        </a:defRPr>
                      </a:pPr>
                      <a:r>
                        <a:t>Negative set (FPR @ 95% TPR)</a:t>
                      </a:r>
                    </a:p>
                  </a:txBody>
                  <a:tcPr>
                    <a:solidFill>
                      <a:srgbClr val="4C72B0"/>
                    </a:solidFill>
                  </a:tcPr>
                </a:tc>
                <a:tc>
                  <a:txBody>
                    <a:bodyPr/>
                    <a:lstStyle/>
                    <a:p>
                      <a:pPr>
                        <a:defRPr sz="1400" b="1">
                          <a:solidFill>
                            <a:srgbClr val="FFFFFF"/>
                          </a:solidFill>
                        </a:defRPr>
                      </a:pPr>
                      <a:r>
                        <a:t>neighbours</a:t>
                      </a:r>
                    </a:p>
                  </a:txBody>
                  <a:tcPr>
                    <a:solidFill>
                      <a:srgbClr val="4C72B0"/>
                    </a:solidFill>
                  </a:tcPr>
                </a:tc>
                <a:tc>
                  <a:txBody>
                    <a:bodyPr/>
                    <a:lstStyle/>
                    <a:p>
                      <a:pPr>
                        <a:defRPr sz="1400" b="1">
                          <a:solidFill>
                            <a:srgbClr val="FFFFFF"/>
                          </a:solidFill>
                        </a:defRPr>
                      </a:pPr>
                      <a:r>
                        <a:t>off-graph confusers</a:t>
                      </a:r>
                    </a:p>
                  </a:txBody>
                  <a:tcPr>
                    <a:solidFill>
                      <a:srgbClr val="4C72B0"/>
                    </a:solidFill>
                  </a:tcPr>
                </a:tc>
                <a:tc>
                  <a:txBody>
                    <a:bodyPr/>
                    <a:lstStyle/>
                    <a:p>
                      <a:pPr>
                        <a:defRPr sz="1400" b="1">
                          <a:solidFill>
                            <a:srgbClr val="FFFFFF"/>
                          </a:solidFill>
                        </a:defRPr>
                      </a:pPr>
                      <a:r>
                        <a:t>far-OOD</a:t>
                      </a:r>
                    </a:p>
                  </a:txBody>
                  <a:tcPr>
                    <a:solidFill>
                      <a:srgbClr val="4C72B0"/>
                    </a:solidFill>
                  </a:tcPr>
                </a:tc>
              </a:tr>
              <a:tr h="530352">
                <a:tc>
                  <a:txBody>
                    <a:bodyPr/>
                    <a:lstStyle/>
                    <a:p>
                      <a:pPr>
                        <a:defRPr sz="1400" b="0"/>
                      </a:pPr>
                      <a:r>
                        <a:t>random</a:t>
                      </a:r>
                    </a:p>
                  </a:txBody>
                  <a:tcPr/>
                </a:tc>
                <a:tc>
                  <a:txBody>
                    <a:bodyPr/>
                    <a:lstStyle/>
                    <a:p>
                      <a:pPr>
                        <a:defRPr sz="1400" b="0"/>
                      </a:pPr>
                      <a:r>
                        <a:t>0.19</a:t>
                      </a:r>
                    </a:p>
                  </a:txBody>
                  <a:tcPr/>
                </a:tc>
                <a:tc>
                  <a:txBody>
                    <a:bodyPr/>
                    <a:lstStyle/>
                    <a:p>
                      <a:pPr>
                        <a:defRPr sz="1400" b="0"/>
                      </a:pPr>
                      <a:r>
                        <a:t>0.27</a:t>
                      </a:r>
                    </a:p>
                  </a:txBody>
                  <a:tcPr/>
                </a:tc>
                <a:tc>
                  <a:txBody>
                    <a:bodyPr/>
                    <a:lstStyle/>
                    <a:p>
                      <a:pPr>
                        <a:defRPr sz="1400" b="0"/>
                      </a:pPr>
                      <a:r>
                        <a:t>0.18</a:t>
                      </a:r>
                    </a:p>
                  </a:txBody>
                  <a:tcPr/>
                </a:tc>
              </a:tr>
              <a:tr h="530352">
                <a:tc>
                  <a:txBody>
                    <a:bodyPr/>
                    <a:lstStyle/>
                    <a:p>
                      <a:pPr>
                        <a:defRPr sz="1400" b="0"/>
                      </a:pPr>
                      <a:r>
                        <a:t>graph siblings (cheap)</a:t>
                      </a:r>
                    </a:p>
                  </a:txBody>
                  <a:tcPr/>
                </a:tc>
                <a:tc>
                  <a:txBody>
                    <a:bodyPr/>
                    <a:lstStyle/>
                    <a:p>
                      <a:pPr>
                        <a:defRPr sz="1400" b="0"/>
                      </a:pPr>
                      <a:r>
                        <a:t>0.05</a:t>
                      </a:r>
                    </a:p>
                  </a:txBody>
                  <a:tcPr/>
                </a:tc>
                <a:tc>
                  <a:txBody>
                    <a:bodyPr/>
                    <a:lstStyle/>
                    <a:p>
                      <a:pPr>
                        <a:defRPr sz="1400" b="0"/>
                      </a:pPr>
                      <a:r>
                        <a:t>0.26</a:t>
                      </a:r>
                    </a:p>
                  </a:txBody>
                  <a:tcPr/>
                </a:tc>
                <a:tc>
                  <a:txBody>
                    <a:bodyPr/>
                    <a:lstStyle/>
                    <a:p>
                      <a:pPr>
                        <a:defRPr sz="1400" b="0"/>
                      </a:pPr>
                      <a:r>
                        <a:t>0.19</a:t>
                      </a:r>
                    </a:p>
                  </a:txBody>
                  <a:tcPr/>
                </a:tc>
              </a:tr>
              <a:tr h="530352">
                <a:tc>
                  <a:txBody>
                    <a:bodyPr/>
                    <a:lstStyle/>
                    <a:p>
                      <a:pPr>
                        <a:defRPr sz="1400" b="0"/>
                      </a:pPr>
                      <a:r>
                        <a:t>model-mined (expensive)</a:t>
                      </a:r>
                    </a:p>
                  </a:txBody>
                  <a:tcPr/>
                </a:tc>
                <a:tc>
                  <a:txBody>
                    <a:bodyPr/>
                    <a:lstStyle/>
                    <a:p>
                      <a:pPr>
                        <a:defRPr sz="1400" b="0"/>
                      </a:pPr>
                      <a:r>
                        <a:t>0.16</a:t>
                      </a:r>
                    </a:p>
                  </a:txBody>
                  <a:tcPr/>
                </a:tc>
                <a:tc>
                  <a:txBody>
                    <a:bodyPr/>
                    <a:lstStyle/>
                    <a:p>
                      <a:pPr>
                        <a:defRPr sz="1400" b="0"/>
                      </a:pPr>
                      <a:r>
                        <a:t>0.06</a:t>
                      </a:r>
                    </a:p>
                  </a:txBody>
                  <a:tcPr/>
                </a:tc>
                <a:tc>
                  <a:txBody>
                    <a:bodyPr/>
                    <a:lstStyle/>
                    <a:p>
                      <a:pPr>
                        <a:defRPr sz="1400" b="0"/>
                      </a:pPr>
                      <a:r>
                        <a:t>0.24</a:t>
                      </a:r>
                    </a:p>
                  </a:txBody>
                  <a:tcPr/>
                </a:tc>
              </a:tr>
              <a:tr h="530352">
                <a:tc>
                  <a:txBody>
                    <a:bodyPr/>
                    <a:lstStyle/>
                    <a:p>
                      <a:pPr>
                        <a:defRPr sz="1400" b="0"/>
                      </a:pPr>
                      <a:r>
                        <a:t>mined + cheap “other” tier</a:t>
                      </a:r>
                    </a:p>
                  </a:txBody>
                  <a:tcPr/>
                </a:tc>
                <a:tc>
                  <a:txBody>
                    <a:bodyPr/>
                    <a:lstStyle/>
                    <a:p>
                      <a:pPr>
                        <a:defRPr sz="1400" b="0"/>
                      </a:pPr>
                      <a:r>
                        <a:t>0.15</a:t>
                      </a:r>
                    </a:p>
                  </a:txBody>
                  <a:tcPr/>
                </a:tc>
                <a:tc>
                  <a:txBody>
                    <a:bodyPr/>
                    <a:lstStyle/>
                    <a:p>
                      <a:pPr>
                        <a:defRPr sz="1400" b="0"/>
                      </a:pPr>
                      <a:r>
                        <a:t>0.07</a:t>
                      </a:r>
                    </a:p>
                  </a:txBody>
                  <a:tcPr/>
                </a:tc>
                <a:tc>
                  <a:txBody>
                    <a:bodyPr/>
                    <a:lstStyle/>
                    <a:p>
                      <a:pPr>
                        <a:defRPr sz="1400" b="0"/>
                      </a:pPr>
                      <a:r>
                        <a:t>0.00</a:t>
                      </a:r>
                    </a:p>
                  </a:txBody>
                  <a:tcPr/>
                </a:tc>
              </a:tr>
            </a:tbl>
          </a:graphicData>
        </a:graphic>
      </p:graphicFrame>
      <p:sp>
        <p:nvSpPr>
          <p:cNvPr id="5" name="TextBox 4"/>
          <p:cNvSpPr txBox="1"/>
          <p:nvPr/>
        </p:nvSpPr>
        <p:spPr>
          <a:xfrm>
            <a:off x="640080" y="4297680"/>
            <a:ext cx="10972800" cy="2011680"/>
          </a:xfrm>
          <a:prstGeom prst="rect">
            <a:avLst/>
          </a:prstGeom>
          <a:noFill/>
        </p:spPr>
        <p:txBody>
          <a:bodyPr wrap="square">
            <a:spAutoFit/>
          </a:bodyPr>
          <a:lstStyle/>
          <a:p>
            <a:pPr>
              <a:spcAft>
                <a:spcPts val="1000"/>
              </a:spcAft>
              <a:defRPr sz="1300" b="0" i="1">
                <a:solidFill>
                  <a:srgbClr val="666666"/>
                </a:solidFill>
              </a:defRPr>
            </a:pPr>
            <a:r>
              <a:t>FPR@95%TPR = false-positive rate at an operating point keeping 95% of true positives</a:t>
            </a:r>
          </a:p>
          <a:p>
            <a:pPr>
              <a:spcAft>
                <a:spcPts val="1000"/>
              </a:spcAft>
              <a:defRPr sz="1600" b="0" i="0">
                <a:solidFill>
                  <a:srgbClr val="1A1A2E"/>
                </a:solidFill>
              </a:defRPr>
            </a:pPr>
            <a:r>
              <a:t>A flat 15-probe argmax has no “none of these” — it labels a dog passage as manipulation. A cheap OTHER class fixes that completely.</a:t>
            </a:r>
          </a:p>
          <a:p>
            <a:pPr>
              <a:spcAft>
                <a:spcPts val="1000"/>
              </a:spcAft>
              <a:defRPr sz="1600" b="1" i="0">
                <a:solidFill>
                  <a:srgbClr val="1A1A2E"/>
                </a:solidFill>
              </a:defRPr>
            </a:pPr>
            <a:r>
              <a:t>Recipe: cheap tiers everywhere → audit for the gap → spend mining only on the gap (a 20-point FP cut).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0424160" cy="868680"/>
          </a:xfrm>
          <a:prstGeom prst="rect">
            <a:avLst/>
          </a:prstGeom>
          <a:noFill/>
        </p:spPr>
        <p:txBody>
          <a:bodyPr wrap="none">
            <a:spAutoFit/>
          </a:bodyPr>
          <a:lstStyle/>
          <a:p>
            <a:pPr>
              <a:defRPr sz="3000" b="1">
                <a:solidFill>
                  <a:srgbClr val="1A1A2E"/>
                </a:solidFill>
              </a:defRPr>
            </a:pPr>
            <a:r>
              <a:t>What this taught me</a:t>
            </a:r>
          </a:p>
        </p:txBody>
      </p:sp>
      <p:sp>
        <p:nvSpPr>
          <p:cNvPr id="3" name="TextBox 2"/>
          <p:cNvSpPr txBox="1"/>
          <p:nvPr/>
        </p:nvSpPr>
        <p:spPr>
          <a:xfrm>
            <a:off x="10972800" y="274320"/>
            <a:ext cx="1005840" cy="365760"/>
          </a:xfrm>
          <a:prstGeom prst="rect">
            <a:avLst/>
          </a:prstGeom>
          <a:noFill/>
        </p:spPr>
        <p:txBody>
          <a:bodyPr wrap="none">
            <a:spAutoFit/>
          </a:bodyPr>
          <a:lstStyle/>
          <a:p>
            <a:pPr algn="r">
              <a:defRPr sz="1100">
                <a:solidFill>
                  <a:srgbClr val="666666"/>
                </a:solidFill>
              </a:defRPr>
            </a:pPr>
            <a:r>
              <a:t>0:45</a:t>
            </a:r>
          </a:p>
        </p:txBody>
      </p:sp>
      <p:sp>
        <p:nvSpPr>
          <p:cNvPr id="4" name="TextBox 3"/>
          <p:cNvSpPr txBox="1"/>
          <p:nvPr/>
        </p:nvSpPr>
        <p:spPr>
          <a:xfrm>
            <a:off x="548640" y="1645920"/>
            <a:ext cx="11064240" cy="5120640"/>
          </a:xfrm>
          <a:prstGeom prst="rect">
            <a:avLst/>
          </a:prstGeom>
          <a:noFill/>
        </p:spPr>
        <p:txBody>
          <a:bodyPr wrap="square">
            <a:spAutoFit/>
          </a:bodyPr>
          <a:lstStyle/>
          <a:p>
            <a:pPr>
              <a:spcAft>
                <a:spcPts val="1000"/>
              </a:spcAft>
              <a:defRPr sz="2200" b="1" i="0">
                <a:solidFill>
                  <a:srgbClr val="1A1A2E"/>
                </a:solidFill>
              </a:defRPr>
            </a:pPr>
            <a:r>
              <a:t>Pre-register before powered runs — saved us twice</a:t>
            </a:r>
          </a:p>
          <a:p>
            <a:pPr>
              <a:spcAft>
                <a:spcPts val="1000"/>
              </a:spcAft>
              <a:defRPr sz="2200" b="1" i="0">
                <a:solidFill>
                  <a:srgbClr val="1A1A2E"/>
                </a:solidFill>
              </a:defRPr>
            </a:pPr>
            <a:r>
              <a:t>Adversarially verify your positives — killed a false one</a:t>
            </a:r>
          </a:p>
          <a:p>
            <a:pPr>
              <a:spcAft>
                <a:spcPts val="1000"/>
              </a:spcAft>
              <a:defRPr sz="2200" b="1" i="0">
                <a:solidFill>
                  <a:srgbClr val="1A1A2E"/>
                </a:solidFill>
              </a:defRPr>
            </a:pPr>
            <a:r>
              <a:t>A bounded answer + a mechanism beats an unbounded yes</a:t>
            </a:r>
          </a:p>
          <a:p>
            <a:pPr>
              <a:spcAft>
                <a:spcPts val="1000"/>
              </a:spcAft>
              <a:defRPr sz="1000" b="0" i="0">
                <a:solidFill>
                  <a:srgbClr val="1A1A2E"/>
                </a:solidFill>
              </a:defRPr>
            </a:pPr>
          </a:p>
          <a:p>
            <a:pPr>
              <a:spcAft>
                <a:spcPts val="1000"/>
              </a:spcAft>
              <a:defRPr sz="1700" b="0" i="0">
                <a:solidFill>
                  <a:srgbClr val="666666"/>
                </a:solidFill>
              </a:defRPr>
            </a:pPr>
            <a:r>
              <a:t>Next:</a:t>
            </a:r>
          </a:p>
          <a:p>
            <a:pPr>
              <a:spcAft>
                <a:spcPts val="1000"/>
              </a:spcAft>
              <a:defRPr sz="1500" b="0" i="0">
                <a:solidFill>
                  <a:srgbClr val="666666"/>
                </a:solidFill>
              </a:defRPr>
            </a:pPr>
            <a:r>
              <a:t>contrast-prompted generation test · near-out-of-set rejection test (controls generated + audited) · count independent constraints, not edges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